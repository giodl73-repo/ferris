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14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41141-158D-AF90-F061-A5796534A9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29B0F3-B06C-359C-2834-F9AE7BF1F4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0EF79-8834-CEBA-F995-2375BA34B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BB13D7-3E74-A3CA-8E14-44019DE34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276D8-C7E4-131A-EAD4-0BFDB1203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540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7E4E-F325-1C3C-0492-A4B85BC88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09AB3-6ECF-7B4F-9870-17F1DC261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987DF-21CD-7786-5CDB-4C0649426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F4B1D-8D72-65BF-B36F-469470AB8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018B2-CBF7-30E5-8962-4F575DF8B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163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40829-D6B6-637D-90BD-BB97C2FAC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291C7-9D5F-6D19-3F4C-B05AFB730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3390B-2A81-DA65-D479-B977F1D22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1E38E-2C39-C9F3-AD9D-72C7D1331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53DF3-32B4-539B-8D28-14EA3ABC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386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5FEC1-EB05-AAA7-FEB4-88950425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EB7F7-8D6C-C7F7-0F87-B32660C610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2E05ED-7F50-EF9B-08E6-B84A93D434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A72A5-8649-0629-E257-01DA84534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5C74E5-2622-BB54-BE82-E892D2DEF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BFAD9-788E-7BA1-BB4E-497CD737D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794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57E1A-6075-FFD4-A141-ED6D340F5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1A5898-570C-A025-A868-9988E5AAE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8F4BF-D32E-23A8-E029-22EE5A22D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034E0D-C319-46A5-9E0A-C6D34A3A19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342BD7-06C4-5294-4542-93F3A6E676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373ECB-8489-C1B3-EA3F-C3142333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390AC-B890-4F12-5D8B-FDBFB0CAF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7C2111-D478-90D6-DAFB-CFE19639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826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99B3A-96ED-B732-3840-BE2FE679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FAA-0F4C-F47C-D697-A6DA100C1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374C28-56DF-A15A-6120-3A5D0D6FD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60BA91-B470-B74E-BDC4-3B13248D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608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D848B8-CD62-1547-B2AD-78550CE29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CF3255-3A6A-DFD3-59A9-E49986CBA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4AD97-0207-D87F-A73B-F1AA4167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037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B656C-740D-9256-DFE0-B1FD11D3A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E5223-B628-E207-4E8C-D568E4F76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0A329-E1B8-92ED-4C60-FE60543845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B85D3F-2573-22B3-1A67-E6648444B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780CB6-A071-C292-23FE-255F425E3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437AD2-83DF-C7D0-5766-6E37ABA52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124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B01F0-DAF8-3F51-31E4-810079054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277F16-7B0A-B369-23F8-ECB84517FF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5E3DF4-71BD-E672-3A2F-1C53338C8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877447-009C-B75C-2D0A-6FEF3B180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A2384A-A467-1476-D85C-FABC6939D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CCEEC-9F8D-BF50-AE0F-3AA5368B6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171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6FAEE-FB9A-DF15-45A8-A4F8A3BBF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D8655-805B-9A55-4B85-BD25854AAF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D1F60-67EA-09C5-7203-309DDA972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9099EF-7FB6-E49B-E90D-121EEAC10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C6FF5-15CD-2610-E0EB-F745FB54F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396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78D44F-26FE-2FA9-1E41-A035B2CA42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2B0A18-4DDD-68C8-E726-59818D998B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7278D-4825-A054-575D-5156D96E8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A86384-C385-E96A-FF7D-D3F0E748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711D07-9CC7-3E75-391A-2DCE3AEE5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953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DBD8E3-19F7-AF96-221D-6BA35A18F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065BF3-17D4-8625-27A5-3D9AE222CF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7557C-67B0-0172-EB96-2C2E060537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9CE911-6C8C-4E61-9158-5B0A8CB9CAA8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05DF5A-989F-8C98-3F9B-1188C87F0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6BCB1-5F04-7E5D-2008-18CC41E7DA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C31EC1-F1FE-4E00-9CE8-AAD3DB735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15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5AA17A-5ADB-6881-E938-4A7CFB18117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6A6D9CC-3B50-1B7D-46C8-0CF58C64EB13}"/>
              </a:ext>
            </a:extLst>
          </p:cNvPr>
          <p:cNvSpPr/>
          <p:nvPr/>
        </p:nvSpPr>
        <p:spPr>
          <a:xfrm>
            <a:off x="8763000" y="-1143000"/>
            <a:ext cx="4191000" cy="41910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8FB1D5-8E1B-8C41-6C2D-3AE5586E6925}"/>
              </a:ext>
            </a:extLst>
          </p:cNvPr>
          <p:cNvSpPr/>
          <p:nvPr/>
        </p:nvSpPr>
        <p:spPr>
          <a:xfrm>
            <a:off x="9779000" y="508000"/>
            <a:ext cx="3175000" cy="31750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CDFD89B-60BC-D229-57F5-BAABD278F6DA}"/>
              </a:ext>
            </a:extLst>
          </p:cNvPr>
          <p:cNvSpPr/>
          <p:nvPr/>
        </p:nvSpPr>
        <p:spPr>
          <a:xfrm>
            <a:off x="8255000" y="2921000"/>
            <a:ext cx="4572000" cy="45720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DF89C2-5ECB-7758-8B16-EE966D9FC126}"/>
              </a:ext>
            </a:extLst>
          </p:cNvPr>
          <p:cNvSpPr txBox="1"/>
          <p:nvPr/>
        </p:nvSpPr>
        <p:spPr>
          <a:xfrm>
            <a:off x="711200" y="685800"/>
            <a:ext cx="596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>
                <a:solidFill>
                  <a:srgbClr val="D95F31"/>
                </a:solidFill>
                <a:latin typeface="Aptos" panose="020B0004020202020204" pitchFamily="34" charset="0"/>
              </a:rPr>
              <a:t>MICROSOFT + RUST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3B828-B8E5-9D4D-E6F3-F551365F54CE}"/>
              </a:ext>
            </a:extLst>
          </p:cNvPr>
          <p:cNvSpPr txBox="1"/>
          <p:nvPr/>
        </p:nvSpPr>
        <p:spPr>
          <a:xfrm>
            <a:off x="711200" y="1346200"/>
            <a:ext cx="774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Aptos Display" panose="020B0004020202020204" pitchFamily="34" charset="0"/>
              </a:rPr>
              <a:t>Govern the conversion while the estate is still forming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8DD0A0-1DAD-8FDC-AC35-63A993C9CCBB}"/>
              </a:ext>
            </a:extLst>
          </p:cNvPr>
          <p:cNvSpPr txBox="1"/>
          <p:nvPr/>
        </p:nvSpPr>
        <p:spPr>
          <a:xfrm>
            <a:off x="736600" y="3352800"/>
            <a:ext cx="723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E5E1D8"/>
                </a:solidFill>
                <a:latin typeface="Aptos" panose="020B0004020202020204" pitchFamily="34" charset="0"/>
              </a:rPr>
              <a:t>A portfolio strategy for application blueprints, compiler-grounded AI, Windows and Azure differentiation, and fair upstream stewardship.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5DD2D7A-083E-8458-910A-494755832AA7}"/>
              </a:ext>
            </a:extLst>
          </p:cNvPr>
          <p:cNvSpPr/>
          <p:nvPr/>
        </p:nvSpPr>
        <p:spPr>
          <a:xfrm>
            <a:off x="736600" y="4851400"/>
            <a:ext cx="3860800" cy="3302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051DD2-9FE2-B5C1-E19C-C218DB343A07}"/>
              </a:ext>
            </a:extLst>
          </p:cNvPr>
          <p:cNvSpPr txBox="1"/>
          <p:nvPr/>
        </p:nvSpPr>
        <p:spPr>
          <a:xfrm>
            <a:off x="863600" y="4927600"/>
            <a:ext cx="360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Aptos" panose="020B0004020202020204" pitchFamily="34" charset="0"/>
              </a:rPr>
              <a:t>Leadership discussion draft | 11 Aug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158BB1-00FC-57E1-DFC4-D5631784000F}"/>
              </a:ext>
            </a:extLst>
          </p:cNvPr>
          <p:cNvSpPr txBox="1"/>
          <p:nvPr/>
        </p:nvSpPr>
        <p:spPr>
          <a:xfrm>
            <a:off x="736600" y="59182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>
                <a:solidFill>
                  <a:srgbClr val="52B8C8"/>
                </a:solidFill>
                <a:latin typeface="Aptos" panose="020B0004020202020204" pitchFamily="34" charset="0"/>
              </a:rPr>
              <a:t>FERRIS</a:t>
            </a:r>
          </a:p>
        </p:txBody>
      </p:sp>
    </p:spTree>
    <p:extLst>
      <p:ext uri="{BB962C8B-B14F-4D97-AF65-F5344CB8AC3E}">
        <p14:creationId xmlns:p14="http://schemas.microsoft.com/office/powerpoint/2010/main" val="42263994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9D69ED-4EB6-7929-0214-C69D51AD123E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THE MOMENT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2102C2-1F50-CECF-8EE2-501A894CB9D1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Rust has crossed from developer preference to platform strategy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E6F5DFD-97C9-F594-65D9-6A92CB609782}"/>
              </a:ext>
            </a:extLst>
          </p:cNvPr>
          <p:cNvSpPr/>
          <p:nvPr/>
        </p:nvSpPr>
        <p:spPr>
          <a:xfrm>
            <a:off x="558800" y="1676400"/>
            <a:ext cx="2514600" cy="1803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1288D4-A50B-8C85-7504-991E71AD3D78}"/>
              </a:ext>
            </a:extLst>
          </p:cNvPr>
          <p:cNvSpPr txBox="1"/>
          <p:nvPr/>
        </p:nvSpPr>
        <p:spPr>
          <a:xfrm>
            <a:off x="787400" y="19050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CE4A2B"/>
                </a:solidFill>
                <a:latin typeface="Aptos Display" panose="020B0004020202020204" pitchFamily="34" charset="0"/>
              </a:rPr>
              <a:t>83%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CFE4B2-6DEE-993E-D6D5-5B4EDECFCFA0}"/>
              </a:ext>
            </a:extLst>
          </p:cNvPr>
          <p:cNvSpPr txBox="1"/>
          <p:nvPr/>
        </p:nvSpPr>
        <p:spPr>
          <a:xfrm>
            <a:off x="787400" y="26289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admired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3BA17F-29E7-0230-99EA-5D0B0B5BB7A4}"/>
              </a:ext>
            </a:extLst>
          </p:cNvPr>
          <p:cNvSpPr txBox="1"/>
          <p:nvPr/>
        </p:nvSpPr>
        <p:spPr>
          <a:xfrm>
            <a:off x="787400" y="29845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646C77"/>
                </a:solidFill>
                <a:latin typeface="Aptos" panose="020B0004020202020204" pitchFamily="34" charset="0"/>
              </a:rPr>
              <a:t>Stack Overflow 2024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41010CA-3350-FEB0-8AB0-8404FF2A5FC2}"/>
              </a:ext>
            </a:extLst>
          </p:cNvPr>
          <p:cNvSpPr/>
          <p:nvPr/>
        </p:nvSpPr>
        <p:spPr>
          <a:xfrm>
            <a:off x="3378200" y="1676400"/>
            <a:ext cx="2514600" cy="1803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817966-67FA-0B4B-A2A1-A3A20901D43D}"/>
              </a:ext>
            </a:extLst>
          </p:cNvPr>
          <p:cNvSpPr txBox="1"/>
          <p:nvPr/>
        </p:nvSpPr>
        <p:spPr>
          <a:xfrm>
            <a:off x="3606800" y="19050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CE4A2B"/>
                </a:solidFill>
                <a:latin typeface="Aptos Display" panose="020B0004020202020204" pitchFamily="34" charset="0"/>
              </a:rPr>
              <a:t>48.8%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37B3AB-22D9-8F3D-5769-5078F3949ED7}"/>
              </a:ext>
            </a:extLst>
          </p:cNvPr>
          <p:cNvSpPr txBox="1"/>
          <p:nvPr/>
        </p:nvSpPr>
        <p:spPr>
          <a:xfrm>
            <a:off x="3606800" y="26289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organizational use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2C26FF-1964-9B23-1563-311362BF424D}"/>
              </a:ext>
            </a:extLst>
          </p:cNvPr>
          <p:cNvSpPr txBox="1"/>
          <p:nvPr/>
        </p:nvSpPr>
        <p:spPr>
          <a:xfrm>
            <a:off x="3606800" y="29845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646C77"/>
                </a:solidFill>
                <a:latin typeface="Aptos" panose="020B0004020202020204" pitchFamily="34" charset="0"/>
              </a:rPr>
              <a:t>non-trivial use, Rust survey 2025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245D97-C059-EFF1-AEEF-B99FDFD70274}"/>
              </a:ext>
            </a:extLst>
          </p:cNvPr>
          <p:cNvSpPr/>
          <p:nvPr/>
        </p:nvSpPr>
        <p:spPr>
          <a:xfrm>
            <a:off x="6197600" y="1676400"/>
            <a:ext cx="2514600" cy="1803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FCA059-5F89-5952-0C7C-7CFA1482C05A}"/>
              </a:ext>
            </a:extLst>
          </p:cNvPr>
          <p:cNvSpPr txBox="1"/>
          <p:nvPr/>
        </p:nvSpPr>
        <p:spPr>
          <a:xfrm>
            <a:off x="6426200" y="19050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CE4A2B"/>
                </a:solidFill>
                <a:latin typeface="Aptos Display" panose="020B0004020202020204" pitchFamily="34" charset="0"/>
              </a:rPr>
              <a:t>315K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B0727-52D7-5898-C190-E4C50CFF3D00}"/>
              </a:ext>
            </a:extLst>
          </p:cNvPr>
          <p:cNvSpPr txBox="1"/>
          <p:nvPr/>
        </p:nvSpPr>
        <p:spPr>
          <a:xfrm>
            <a:off x="6426200" y="26289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published crates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99106D-773C-4465-3C05-552D6B56340E}"/>
              </a:ext>
            </a:extLst>
          </p:cNvPr>
          <p:cNvSpPr txBox="1"/>
          <p:nvPr/>
        </p:nvSpPr>
        <p:spPr>
          <a:xfrm>
            <a:off x="6426200" y="29845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646C77"/>
                </a:solidFill>
                <a:latin typeface="Aptos" panose="020B0004020202020204" pitchFamily="34" charset="0"/>
              </a:rPr>
              <a:t>crates.io, 11 Aug 2026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911A43B-1410-B681-3FB6-AAF91576D307}"/>
              </a:ext>
            </a:extLst>
          </p:cNvPr>
          <p:cNvSpPr/>
          <p:nvPr/>
        </p:nvSpPr>
        <p:spPr>
          <a:xfrm>
            <a:off x="9017000" y="1676400"/>
            <a:ext cx="2514600" cy="1803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1C8D6E-0A9F-B3C1-C234-7DAB5D930D49}"/>
              </a:ext>
            </a:extLst>
          </p:cNvPr>
          <p:cNvSpPr txBox="1"/>
          <p:nvPr/>
        </p:nvSpPr>
        <p:spPr>
          <a:xfrm>
            <a:off x="9245600" y="19050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CE4A2B"/>
                </a:solidFill>
                <a:latin typeface="Aptos Display" panose="020B0004020202020204" pitchFamily="34" charset="0"/>
              </a:rPr>
              <a:t>395B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001BDF-4EEB-2BAB-7ED7-ACA7DA4BE61E}"/>
              </a:ext>
            </a:extLst>
          </p:cNvPr>
          <p:cNvSpPr txBox="1"/>
          <p:nvPr/>
        </p:nvSpPr>
        <p:spPr>
          <a:xfrm>
            <a:off x="9245600" y="26289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downloads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C02727-1AD3-0D85-222D-CA7B8110A50C}"/>
              </a:ext>
            </a:extLst>
          </p:cNvPr>
          <p:cNvSpPr txBox="1"/>
          <p:nvPr/>
        </p:nvSpPr>
        <p:spPr>
          <a:xfrm>
            <a:off x="9245600" y="29845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646C77"/>
                </a:solidFill>
                <a:latin typeface="Aptos" panose="020B0004020202020204" pitchFamily="34" charset="0"/>
              </a:rPr>
              <a:t>cumulative crates.io downloads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51E9A5A-96EF-39A3-78FF-5F34E1F1BB41}"/>
              </a:ext>
            </a:extLst>
          </p:cNvPr>
          <p:cNvSpPr/>
          <p:nvPr/>
        </p:nvSpPr>
        <p:spPr>
          <a:xfrm>
            <a:off x="558800" y="3987800"/>
            <a:ext cx="11074400" cy="18542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31EFD6-E198-5F4E-73F3-AFB31BD23D88}"/>
              </a:ext>
            </a:extLst>
          </p:cNvPr>
          <p:cNvSpPr txBox="1"/>
          <p:nvPr/>
        </p:nvSpPr>
        <p:spPr>
          <a:xfrm>
            <a:off x="838200" y="42799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D95F31"/>
                </a:solidFill>
                <a:latin typeface="Aptos" panose="020B0004020202020204" pitchFamily="34" charset="0"/>
              </a:rPr>
              <a:t>The strategic shift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1D4AEE-7D8D-6BB9-CA6D-F05E96911027}"/>
              </a:ext>
            </a:extLst>
          </p:cNvPr>
          <p:cNvSpPr txBox="1"/>
          <p:nvPr/>
        </p:nvSpPr>
        <p:spPr>
          <a:xfrm>
            <a:off x="838200" y="4749800"/>
            <a:ext cx="990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 Display" panose="020B0004020202020204" pitchFamily="34" charset="0"/>
              </a:rPr>
              <a:t>Rust is no longer a bet on language popularity. It is becoming a durable systems, cloud, security, and application-platform capability.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6308BB-0322-BAD6-2730-9649DAC6158F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Sources: Stack Overflow 2024; State of Rust 2025; crates.io public API (observed 2026-08-11).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5CF1A-FF21-D344-AE85-85253FE47760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896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D680D4-5D84-0935-4166-8C8B075480A4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SECURITY ECONOMICS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B47C8-84B6-3747-FB61-960BC1A8FF6C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The conversion case is strongest when it is incremental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5443F2-7A5E-FEB7-A8B1-84E58526D963}"/>
              </a:ext>
            </a:extLst>
          </p:cNvPr>
          <p:cNvSpPr txBox="1"/>
          <p:nvPr/>
        </p:nvSpPr>
        <p:spPr>
          <a:xfrm>
            <a:off x="660400" y="16764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F2329"/>
                </a:solidFill>
                <a:latin typeface="Aptos" panose="020B0004020202020204" pitchFamily="34" charset="0"/>
              </a:rPr>
              <a:t>Android memory-safety vulnerabilities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2608694-CA88-6031-234B-59F016EA7130}"/>
              </a:ext>
            </a:extLst>
          </p:cNvPr>
          <p:cNvSpPr/>
          <p:nvPr/>
        </p:nvSpPr>
        <p:spPr>
          <a:xfrm>
            <a:off x="660400" y="2260600"/>
            <a:ext cx="4699000" cy="685800"/>
          </a:xfrm>
          <a:prstGeom prst="roundRect">
            <a:avLst/>
          </a:prstGeom>
          <a:solidFill>
            <a:srgbClr val="C5CED8"/>
          </a:solidFill>
          <a:ln w="19050" cap="flat" cmpd="sng" algn="ctr">
            <a:solidFill>
              <a:srgbClr val="C5CED8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83C8299-E8A3-B173-FBA0-F60C5648D7C2}"/>
              </a:ext>
            </a:extLst>
          </p:cNvPr>
          <p:cNvSpPr/>
          <p:nvPr/>
        </p:nvSpPr>
        <p:spPr>
          <a:xfrm>
            <a:off x="660400" y="2260600"/>
            <a:ext cx="3568700" cy="685800"/>
          </a:xfrm>
          <a:prstGeom prst="roundRect">
            <a:avLst/>
          </a:prstGeom>
          <a:solidFill>
            <a:srgbClr val="CE4A2B"/>
          </a:solidFill>
          <a:ln w="19050" cap="flat" cmpd="sng" algn="ctr">
            <a:solidFill>
              <a:srgbClr val="CE4A2B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7BDE33-202C-0887-1A6A-AFD71D7993D8}"/>
              </a:ext>
            </a:extLst>
          </p:cNvPr>
          <p:cNvSpPr txBox="1"/>
          <p:nvPr/>
        </p:nvSpPr>
        <p:spPr>
          <a:xfrm>
            <a:off x="838200" y="23876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Aptos Display" panose="020B0004020202020204" pitchFamily="34" charset="0"/>
              </a:rPr>
              <a:t>76%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566AE-ADEB-2EF7-66AA-6A89268EE829}"/>
              </a:ext>
            </a:extLst>
          </p:cNvPr>
          <p:cNvSpPr txBox="1"/>
          <p:nvPr/>
        </p:nvSpPr>
        <p:spPr>
          <a:xfrm>
            <a:off x="4318000" y="2489200"/>
            <a:ext cx="93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 b="1">
                <a:solidFill>
                  <a:srgbClr val="646C77"/>
                </a:solidFill>
                <a:latin typeface="Aptos" panose="020B0004020202020204" pitchFamily="34" charset="0"/>
              </a:rPr>
              <a:t>six years earlier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0AA2841-BA67-DE62-513B-5AD7855E16AF}"/>
              </a:ext>
            </a:extLst>
          </p:cNvPr>
          <p:cNvSpPr/>
          <p:nvPr/>
        </p:nvSpPr>
        <p:spPr>
          <a:xfrm>
            <a:off x="660400" y="3327400"/>
            <a:ext cx="4699000" cy="685800"/>
          </a:xfrm>
          <a:prstGeom prst="roundRect">
            <a:avLst/>
          </a:prstGeom>
          <a:solidFill>
            <a:srgbClr val="C5CED8"/>
          </a:solidFill>
          <a:ln w="19050" cap="flat" cmpd="sng" algn="ctr">
            <a:solidFill>
              <a:srgbClr val="C5CED8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E86764C-DDAE-9504-4514-63397CA29881}"/>
              </a:ext>
            </a:extLst>
          </p:cNvPr>
          <p:cNvSpPr/>
          <p:nvPr/>
        </p:nvSpPr>
        <p:spPr>
          <a:xfrm>
            <a:off x="660400" y="3327400"/>
            <a:ext cx="1130300" cy="685800"/>
          </a:xfrm>
          <a:prstGeom prst="roundRect">
            <a:avLst/>
          </a:prstGeom>
          <a:solidFill>
            <a:srgbClr val="52B8C8"/>
          </a:solidFill>
          <a:ln w="19050" cap="flat" cmpd="sng" algn="ctr">
            <a:solidFill>
              <a:srgbClr val="52B8C8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2E59D2-54E3-1BC3-ACD1-CA4FDC4D10D7}"/>
              </a:ext>
            </a:extLst>
          </p:cNvPr>
          <p:cNvSpPr txBox="1"/>
          <p:nvPr/>
        </p:nvSpPr>
        <p:spPr>
          <a:xfrm>
            <a:off x="838200" y="34544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0212D"/>
                </a:solidFill>
                <a:latin typeface="Aptos Display" panose="020B0004020202020204" pitchFamily="34" charset="0"/>
              </a:rPr>
              <a:t>24%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FC08CD-7412-143D-DC18-C9F2A932B79A}"/>
              </a:ext>
            </a:extLst>
          </p:cNvPr>
          <p:cNvSpPr txBox="1"/>
          <p:nvPr/>
        </p:nvSpPr>
        <p:spPr>
          <a:xfrm>
            <a:off x="4318000" y="3556000"/>
            <a:ext cx="93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 b="1">
                <a:solidFill>
                  <a:srgbClr val="646C77"/>
                </a:solidFill>
                <a:latin typeface="Aptos" panose="020B0004020202020204" pitchFamily="34" charset="0"/>
              </a:rPr>
              <a:t>2024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BA90766-971C-E0E5-D25E-D82411899AB6}"/>
              </a:ext>
            </a:extLst>
          </p:cNvPr>
          <p:cNvSpPr/>
          <p:nvPr/>
        </p:nvSpPr>
        <p:spPr>
          <a:xfrm>
            <a:off x="6172200" y="1727200"/>
            <a:ext cx="5181600" cy="22860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FB3282-1928-59D4-EFA0-0BEE0326FABB}"/>
              </a:ext>
            </a:extLst>
          </p:cNvPr>
          <p:cNvSpPr/>
          <p:nvPr/>
        </p:nvSpPr>
        <p:spPr>
          <a:xfrm>
            <a:off x="6172200" y="1727200"/>
            <a:ext cx="101600" cy="2286000"/>
          </a:xfrm>
          <a:prstGeom prst="rect">
            <a:avLst/>
          </a:prstGeom>
          <a:solidFill>
            <a:srgbClr val="52B8C8"/>
          </a:solidFill>
          <a:ln w="19050" cap="flat" cmpd="sng" algn="ctr">
            <a:solidFill>
              <a:srgbClr val="52B8C8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5E4198-43C7-8900-74C7-60E784F43E4B}"/>
              </a:ext>
            </a:extLst>
          </p:cNvPr>
          <p:cNvSpPr txBox="1"/>
          <p:nvPr/>
        </p:nvSpPr>
        <p:spPr>
          <a:xfrm>
            <a:off x="6451600" y="1930400"/>
            <a:ext cx="469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F2329"/>
                </a:solidFill>
                <a:latin typeface="Aptos" panose="020B0004020202020204" pitchFamily="34" charset="0"/>
              </a:rPr>
              <a:t>Interoperability is the new rewrite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259D8F-41C7-49BD-FFB0-D9AEF46F23A1}"/>
              </a:ext>
            </a:extLst>
          </p:cNvPr>
          <p:cNvSpPr txBox="1"/>
          <p:nvPr/>
        </p:nvSpPr>
        <p:spPr>
          <a:xfrm>
            <a:off x="6451600" y="2387600"/>
            <a:ext cx="469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50">
                <a:solidFill>
                  <a:srgbClr val="646C77"/>
                </a:solidFill>
                <a:latin typeface="Aptos" panose="020B0004020202020204" pitchFamily="34" charset="0"/>
              </a:rPr>
              <a:t>Prioritize memory-safe languages for new and actively changing code. Keep mature assets where rewrite economics are weak. Make boundaries safe, explicit, testable, and removable.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EA1E1F1-B0F3-26FB-14EE-54B02C701425}"/>
              </a:ext>
            </a:extLst>
          </p:cNvPr>
          <p:cNvSpPr/>
          <p:nvPr/>
        </p:nvSpPr>
        <p:spPr>
          <a:xfrm>
            <a:off x="6172200" y="4292600"/>
            <a:ext cx="5181600" cy="15748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21C22B-6E2C-071E-8BAD-1AEFAE72A9C5}"/>
              </a:ext>
            </a:extLst>
          </p:cNvPr>
          <p:cNvSpPr/>
          <p:nvPr/>
        </p:nvSpPr>
        <p:spPr>
          <a:xfrm>
            <a:off x="6172200" y="4292600"/>
            <a:ext cx="101600" cy="1574800"/>
          </a:xfrm>
          <a:prstGeom prst="rect">
            <a:avLst/>
          </a:prstGeom>
          <a:solidFill>
            <a:srgbClr val="D95F31"/>
          </a:solidFill>
          <a:ln w="19050" cap="flat" cmpd="sng" algn="ctr">
            <a:solidFill>
              <a:srgbClr val="D95F31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64291E-5B7A-A4DA-CD4F-8839630BF4B7}"/>
              </a:ext>
            </a:extLst>
          </p:cNvPr>
          <p:cNvSpPr txBox="1"/>
          <p:nvPr/>
        </p:nvSpPr>
        <p:spPr>
          <a:xfrm>
            <a:off x="6451600" y="4495800"/>
            <a:ext cx="469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F2329"/>
                </a:solidFill>
                <a:latin typeface="Aptos" panose="020B0004020202020204" pitchFamily="34" charset="0"/>
              </a:rPr>
              <a:t>A second operational signal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58BB31-04B6-72E3-54D1-D4D51F5BC8F8}"/>
              </a:ext>
            </a:extLst>
          </p:cNvPr>
          <p:cNvSpPr txBox="1"/>
          <p:nvPr/>
        </p:nvSpPr>
        <p:spPr>
          <a:xfrm>
            <a:off x="6451600" y="4953000"/>
            <a:ext cx="469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50">
                <a:solidFill>
                  <a:srgbClr val="646C77"/>
                </a:solidFill>
                <a:latin typeface="Aptos" panose="020B0004020202020204" pitchFamily="34" charset="0"/>
              </a:rPr>
              <a:t>Google reports the rollback rate of Rust changes at less than half the rate of C++ changes -- evidence that safety can improve developer operations, not only vulnerability counts.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5C7D7B-2E70-3033-9F90-948F4D699FDF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Source: Google Security Blog, "Eliminating Memory Safety Vulnerabilities at the Source," 25 Sep 2024.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787380-111E-C980-1F0A-A520126B907C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82769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3415E6-B7BC-8320-03C1-FE29A724A82D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MICROSOFT SIGNALS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D4FDBF-231B-5DFC-C936-C677E6E42A87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Microsoft is already moving -- coordination is the missing layer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A51A268-6B66-C05A-415B-73282CE256FD}"/>
              </a:ext>
            </a:extLst>
          </p:cNvPr>
          <p:cNvSpPr/>
          <p:nvPr/>
        </p:nvSpPr>
        <p:spPr>
          <a:xfrm>
            <a:off x="660400" y="1600200"/>
            <a:ext cx="558800" cy="5588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1DE8BB-C7E2-BB93-ED69-E232C7E2634D}"/>
              </a:ext>
            </a:extLst>
          </p:cNvPr>
          <p:cNvSpPr txBox="1"/>
          <p:nvPr/>
        </p:nvSpPr>
        <p:spPr>
          <a:xfrm>
            <a:off x="825500" y="17145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F1A188-AA0A-8092-7725-274585B44679}"/>
              </a:ext>
            </a:extLst>
          </p:cNvPr>
          <p:cNvSpPr txBox="1"/>
          <p:nvPr/>
        </p:nvSpPr>
        <p:spPr>
          <a:xfrm>
            <a:off x="1473200" y="15875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CE4A2B"/>
                </a:solidFill>
                <a:latin typeface="Aptos" panose="020B0004020202020204" pitchFamily="34" charset="0"/>
              </a:rPr>
              <a:t>AZURE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B1C05B-14FF-F957-DC6B-4BF40A7515A8}"/>
              </a:ext>
            </a:extLst>
          </p:cNvPr>
          <p:cNvSpPr txBox="1"/>
          <p:nvPr/>
        </p:nvSpPr>
        <p:spPr>
          <a:xfrm>
            <a:off x="1473200" y="1930400"/>
            <a:ext cx="939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Rust adopted in critical infrastructure; Microsoft expects adoption to expand substantially.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67F428B-75E3-296D-F325-82F5E723AD74}"/>
              </a:ext>
            </a:extLst>
          </p:cNvPr>
          <p:cNvCxnSpPr/>
          <p:nvPr/>
        </p:nvCxnSpPr>
        <p:spPr>
          <a:xfrm>
            <a:off x="1473200" y="2501900"/>
            <a:ext cx="9906000" cy="0"/>
          </a:xfrm>
          <a:prstGeom prst="line">
            <a:avLst/>
          </a:prstGeom>
          <a:ln w="12700">
            <a:solidFill>
              <a:srgbClr val="C5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E7216A1F-0C46-DA27-3157-D05A4B6BA712}"/>
              </a:ext>
            </a:extLst>
          </p:cNvPr>
          <p:cNvSpPr/>
          <p:nvPr/>
        </p:nvSpPr>
        <p:spPr>
          <a:xfrm>
            <a:off x="660400" y="2692400"/>
            <a:ext cx="558800" cy="558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983361-42D3-01A8-8E7E-7F71429FAC7E}"/>
              </a:ext>
            </a:extLst>
          </p:cNvPr>
          <p:cNvSpPr txBox="1"/>
          <p:nvPr/>
        </p:nvSpPr>
        <p:spPr>
          <a:xfrm>
            <a:off x="825500" y="28067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0212D"/>
                </a:solidFill>
                <a:latin typeface="Aptos Display" panose="020B00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B2C49B-8E56-D736-28AA-6082FEEEE765}"/>
              </a:ext>
            </a:extLst>
          </p:cNvPr>
          <p:cNvSpPr txBox="1"/>
          <p:nvPr/>
        </p:nvSpPr>
        <p:spPr>
          <a:xfrm>
            <a:off x="1473200" y="26797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CE4A2B"/>
                </a:solidFill>
                <a:latin typeface="Aptos" panose="020B0004020202020204" pitchFamily="34" charset="0"/>
              </a:rPr>
              <a:t>SDK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55A30B-DD54-213F-6CC8-9C4465B2075A}"/>
              </a:ext>
            </a:extLst>
          </p:cNvPr>
          <p:cNvSpPr txBox="1"/>
          <p:nvPr/>
        </p:nvSpPr>
        <p:spPr>
          <a:xfrm>
            <a:off x="1473200" y="3022600"/>
            <a:ext cx="939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Stable Azure SDK for Rust: core, identity, Key Vault, and Storage with SemVer guarantees.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03574D-8A67-799D-ABA4-5BDDD14A56A3}"/>
              </a:ext>
            </a:extLst>
          </p:cNvPr>
          <p:cNvCxnSpPr/>
          <p:nvPr/>
        </p:nvCxnSpPr>
        <p:spPr>
          <a:xfrm>
            <a:off x="1473200" y="3594100"/>
            <a:ext cx="9906000" cy="0"/>
          </a:xfrm>
          <a:prstGeom prst="line">
            <a:avLst/>
          </a:prstGeom>
          <a:ln w="12700">
            <a:solidFill>
              <a:srgbClr val="C5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8BD1DF0B-3F47-BB7D-93AD-466FADE3FADC}"/>
              </a:ext>
            </a:extLst>
          </p:cNvPr>
          <p:cNvSpPr/>
          <p:nvPr/>
        </p:nvSpPr>
        <p:spPr>
          <a:xfrm>
            <a:off x="660400" y="3784600"/>
            <a:ext cx="558800" cy="5588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9DE542-1F5C-B458-8782-5F91AB6E922C}"/>
              </a:ext>
            </a:extLst>
          </p:cNvPr>
          <p:cNvSpPr txBox="1"/>
          <p:nvPr/>
        </p:nvSpPr>
        <p:spPr>
          <a:xfrm>
            <a:off x="825500" y="38989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 Display" panose="020B0004020202020204" pitchFamily="34" charset="0"/>
              </a:rPr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E576F8-5E4B-8DA1-4FAF-27145E915F7A}"/>
              </a:ext>
            </a:extLst>
          </p:cNvPr>
          <p:cNvSpPr txBox="1"/>
          <p:nvPr/>
        </p:nvSpPr>
        <p:spPr>
          <a:xfrm>
            <a:off x="1473200" y="37719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CE4A2B"/>
                </a:solidFill>
                <a:latin typeface="Aptos" panose="020B0004020202020204" pitchFamily="34" charset="0"/>
              </a:rPr>
              <a:t>SYSTEMS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A0BB40-02BE-5F02-2643-5ADCAC2678B6}"/>
              </a:ext>
            </a:extLst>
          </p:cNvPr>
          <p:cNvSpPr txBox="1"/>
          <p:nvPr/>
        </p:nvSpPr>
        <p:spPr>
          <a:xfrm>
            <a:off x="1473200" y="4114800"/>
            <a:ext cx="939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OpenVMM is a modular, cross-platform VMM written in Rust.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1A0100-8D59-48F5-2ECC-85798F338DCD}"/>
              </a:ext>
            </a:extLst>
          </p:cNvPr>
          <p:cNvCxnSpPr/>
          <p:nvPr/>
        </p:nvCxnSpPr>
        <p:spPr>
          <a:xfrm>
            <a:off x="1473200" y="4686300"/>
            <a:ext cx="9906000" cy="0"/>
          </a:xfrm>
          <a:prstGeom prst="line">
            <a:avLst/>
          </a:prstGeom>
          <a:ln w="12700">
            <a:solidFill>
              <a:srgbClr val="C5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8358014C-ED32-2276-0FE9-670C0E6BEF79}"/>
              </a:ext>
            </a:extLst>
          </p:cNvPr>
          <p:cNvSpPr/>
          <p:nvPr/>
        </p:nvSpPr>
        <p:spPr>
          <a:xfrm>
            <a:off x="660400" y="4876800"/>
            <a:ext cx="558800" cy="558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66E422-900E-D839-17AE-3AD759CC32D8}"/>
              </a:ext>
            </a:extLst>
          </p:cNvPr>
          <p:cNvSpPr txBox="1"/>
          <p:nvPr/>
        </p:nvSpPr>
        <p:spPr>
          <a:xfrm>
            <a:off x="825500" y="4991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0212D"/>
                </a:solidFill>
                <a:latin typeface="Aptos Display" panose="020B0004020202020204" pitchFamily="34" charset="0"/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2D9F99-BE0B-DDFA-D7A5-FE25137E24A4}"/>
              </a:ext>
            </a:extLst>
          </p:cNvPr>
          <p:cNvSpPr txBox="1"/>
          <p:nvPr/>
        </p:nvSpPr>
        <p:spPr>
          <a:xfrm>
            <a:off x="1473200" y="48641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CE4A2B"/>
                </a:solidFill>
                <a:latin typeface="Aptos" panose="020B0004020202020204" pitchFamily="34" charset="0"/>
              </a:rPr>
              <a:t>FOUNDATION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1C882F-92F4-9EF9-8AB6-9CD75935B685}"/>
              </a:ext>
            </a:extLst>
          </p:cNvPr>
          <p:cNvSpPr txBox="1"/>
          <p:nvPr/>
        </p:nvSpPr>
        <p:spPr>
          <a:xfrm>
            <a:off x="1473200" y="5207000"/>
            <a:ext cx="939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Founding Platinum member since January 2021; an established channel for fair investment.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53C3E7-C782-69AF-6743-0BE345872D36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Sources: Microsoft Azure Security; Azure SDK Blog; github.com/microsoft/openvmm; Rust Foundation members.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E442C4-7D9A-2AF5-B88E-19A806A5B217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33494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397910-A6C1-9557-CC11-BCF513D08390}"/>
              </a:ext>
            </a:extLst>
          </p:cNvPr>
          <p:cNvSpPr txBox="1"/>
          <p:nvPr/>
        </p:nvSpPr>
        <p:spPr>
          <a:xfrm>
            <a:off x="558800" y="3556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D95F31"/>
                </a:solidFill>
                <a:latin typeface="Aptos" panose="020B0004020202020204" pitchFamily="34" charset="0"/>
              </a:rPr>
              <a:t>THE RISK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46680-E94B-D4EE-E55F-426AA8229B8B}"/>
              </a:ext>
            </a:extLst>
          </p:cNvPr>
          <p:cNvSpPr txBox="1"/>
          <p:nvPr/>
        </p:nvSpPr>
        <p:spPr>
          <a:xfrm>
            <a:off x="558800" y="736600"/>
            <a:ext cx="1003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ptos Display" panose="020B0004020202020204" pitchFamily="34" charset="0"/>
              </a:rPr>
              <a:t>Uncoordinated success becomes the next platform debt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E28145-E450-8879-C4EE-29B51F098E36}"/>
              </a:ext>
            </a:extLst>
          </p:cNvPr>
          <p:cNvSpPr/>
          <p:nvPr/>
        </p:nvSpPr>
        <p:spPr>
          <a:xfrm>
            <a:off x="558800" y="1752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239780-3C81-E080-9353-2297B0080AE6}"/>
              </a:ext>
            </a:extLst>
          </p:cNvPr>
          <p:cNvSpPr txBox="1"/>
          <p:nvPr/>
        </p:nvSpPr>
        <p:spPr>
          <a:xfrm>
            <a:off x="787400" y="1981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Crate divergence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97CEE2-6963-C39C-0708-41B1EDBE0D69}"/>
              </a:ext>
            </a:extLst>
          </p:cNvPr>
          <p:cNvSpPr txBox="1"/>
          <p:nvPr/>
        </p:nvSpPr>
        <p:spPr>
          <a:xfrm>
            <a:off x="787400" y="2413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Different stacks and providers for one capability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E31CB97-4E26-F232-3A8E-4D792856882F}"/>
              </a:ext>
            </a:extLst>
          </p:cNvPr>
          <p:cNvSpPr/>
          <p:nvPr/>
        </p:nvSpPr>
        <p:spPr>
          <a:xfrm>
            <a:off x="4318000" y="1752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52B61E-E6E4-33DE-DAE6-B1961E00A158}"/>
              </a:ext>
            </a:extLst>
          </p:cNvPr>
          <p:cNvSpPr txBox="1"/>
          <p:nvPr/>
        </p:nvSpPr>
        <p:spPr>
          <a:xfrm>
            <a:off x="4546600" y="1981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Boundary drift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E7A938-FFB5-AE94-D8B4-B7D018EF9066}"/>
              </a:ext>
            </a:extLst>
          </p:cNvPr>
          <p:cNvSpPr txBox="1"/>
          <p:nvPr/>
        </p:nvSpPr>
        <p:spPr>
          <a:xfrm>
            <a:off x="4546600" y="2413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Ad hoc C++, C ABI, WIT, generated, and service contracts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FD03D77-E87F-8791-D812-35EBEFB74AC4}"/>
              </a:ext>
            </a:extLst>
          </p:cNvPr>
          <p:cNvSpPr/>
          <p:nvPr/>
        </p:nvSpPr>
        <p:spPr>
          <a:xfrm>
            <a:off x="8077200" y="1752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E0A134-5C20-ACC5-2D7F-C8EB7F35DD6F}"/>
              </a:ext>
            </a:extLst>
          </p:cNvPr>
          <p:cNvSpPr txBox="1"/>
          <p:nvPr/>
        </p:nvSpPr>
        <p:spPr>
          <a:xfrm>
            <a:off x="8305800" y="1981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Support ambiguity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879692-3C51-499C-1265-E84F2D952803}"/>
              </a:ext>
            </a:extLst>
          </p:cNvPr>
          <p:cNvSpPr txBox="1"/>
          <p:nvPr/>
        </p:nvSpPr>
        <p:spPr>
          <a:xfrm>
            <a:off x="8305800" y="2413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Versions, targets, owners, and renewal dates disappear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418234-0624-9B14-1620-E31E3CACECA5}"/>
              </a:ext>
            </a:extLst>
          </p:cNvPr>
          <p:cNvSpPr/>
          <p:nvPr/>
        </p:nvSpPr>
        <p:spPr>
          <a:xfrm>
            <a:off x="558800" y="3657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D8CEDC-187C-21F0-2A22-8363D2FAFDDF}"/>
              </a:ext>
            </a:extLst>
          </p:cNvPr>
          <p:cNvSpPr txBox="1"/>
          <p:nvPr/>
        </p:nvSpPr>
        <p:spPr>
          <a:xfrm>
            <a:off x="787400" y="3886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AI without context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18596-81B2-C1C4-4D61-3DA59934F0D0}"/>
              </a:ext>
            </a:extLst>
          </p:cNvPr>
          <p:cNvSpPr txBox="1"/>
          <p:nvPr/>
        </p:nvSpPr>
        <p:spPr>
          <a:xfrm>
            <a:off x="787400" y="4318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Generated native changes lack application scope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D3B74D-B5BE-333D-7DF1-96961245A936}"/>
              </a:ext>
            </a:extLst>
          </p:cNvPr>
          <p:cNvSpPr/>
          <p:nvPr/>
        </p:nvSpPr>
        <p:spPr>
          <a:xfrm>
            <a:off x="4318000" y="3657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E753B9-AD29-86CC-C8F9-2B5C3F5729DA}"/>
              </a:ext>
            </a:extLst>
          </p:cNvPr>
          <p:cNvSpPr txBox="1"/>
          <p:nvPr/>
        </p:nvSpPr>
        <p:spPr>
          <a:xfrm>
            <a:off x="4546600" y="3886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Local-only CI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A399DC-0B0C-295D-1773-F8A38CD21616}"/>
              </a:ext>
            </a:extLst>
          </p:cNvPr>
          <p:cNvSpPr txBox="1"/>
          <p:nvPr/>
        </p:nvSpPr>
        <p:spPr>
          <a:xfrm>
            <a:off x="4546600" y="4318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Workspaces pass while application impact remains unknown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FE46B89-85AB-CA03-B9A2-5D3C83CBE113}"/>
              </a:ext>
            </a:extLst>
          </p:cNvPr>
          <p:cNvSpPr/>
          <p:nvPr/>
        </p:nvSpPr>
        <p:spPr>
          <a:xfrm>
            <a:off x="8077200" y="3657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E3986B-1F3D-DB52-90D8-03A21DF0C9DF}"/>
              </a:ext>
            </a:extLst>
          </p:cNvPr>
          <p:cNvSpPr txBox="1"/>
          <p:nvPr/>
        </p:nvSpPr>
        <p:spPr>
          <a:xfrm>
            <a:off x="8305800" y="3886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No exit path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DE2C47-8751-EA25-A0DB-27282432292A}"/>
              </a:ext>
            </a:extLst>
          </p:cNvPr>
          <p:cNvSpPr txBox="1"/>
          <p:nvPr/>
        </p:nvSpPr>
        <p:spPr>
          <a:xfrm>
            <a:off x="8305800" y="4318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Migration omits fallback, rollback, substitution, and removal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49A33A-C2D1-749E-DC9B-BA71B354B394}"/>
              </a:ext>
            </a:extLst>
          </p:cNvPr>
          <p:cNvSpPr txBox="1"/>
          <p:nvPr/>
        </p:nvSpPr>
        <p:spPr>
          <a:xfrm>
            <a:off x="558800" y="59436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2B8C8"/>
                </a:solidFill>
                <a:latin typeface="Aptos" panose="020B0004020202020204" pitchFamily="34" charset="0"/>
              </a:rPr>
              <a:t>Cargo owns package truth. Microsoft still needs an application and portfolio layer.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B2F950-E272-B8BF-D104-39EFA675321C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Ferris thesis: preserve owner authority; coordinate application intent, evidence, lifecycle, and affected work.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236B53-17E6-47B7-D04F-79411062EB4A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807098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0CA298-0077-B78F-B0AB-E54B237DE5FF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THE PROPOSED CONTROL PLANE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99CA67-A1DA-DD73-3858-96547AED7F7C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Application blueprints turn Rust adoption into a supportable system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4D3E64D-4A36-97E8-24EA-4E63AD217D2D}"/>
              </a:ext>
            </a:extLst>
          </p:cNvPr>
          <p:cNvSpPr/>
          <p:nvPr/>
        </p:nvSpPr>
        <p:spPr>
          <a:xfrm>
            <a:off x="914400" y="2413000"/>
            <a:ext cx="1879600" cy="27178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8DA77E4-5E32-2325-0A60-221388747075}"/>
              </a:ext>
            </a:extLst>
          </p:cNvPr>
          <p:cNvSpPr/>
          <p:nvPr/>
        </p:nvSpPr>
        <p:spPr>
          <a:xfrm>
            <a:off x="1549400" y="2641600"/>
            <a:ext cx="609600" cy="6096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C92BED-BAC7-B149-C44B-3B96100450B3}"/>
              </a:ext>
            </a:extLst>
          </p:cNvPr>
          <p:cNvSpPr txBox="1"/>
          <p:nvPr/>
        </p:nvSpPr>
        <p:spPr>
          <a:xfrm>
            <a:off x="1739900" y="27813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9A41CE-0914-A23D-E6D8-B60E2033084A}"/>
              </a:ext>
            </a:extLst>
          </p:cNvPr>
          <p:cNvSpPr txBox="1"/>
          <p:nvPr/>
        </p:nvSpPr>
        <p:spPr>
          <a:xfrm>
            <a:off x="1092200" y="34544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1F2329"/>
                </a:solidFill>
                <a:latin typeface="Aptos Display" panose="020B0004020202020204" pitchFamily="34" charset="0"/>
              </a:rPr>
              <a:t>Application intent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4DACCF-E248-BC15-7624-56421A06A917}"/>
              </a:ext>
            </a:extLst>
          </p:cNvPr>
          <p:cNvSpPr txBox="1"/>
          <p:nvPr/>
        </p:nvSpPr>
        <p:spPr>
          <a:xfrm>
            <a:off x="1117600" y="41275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646C77"/>
                </a:solidFill>
                <a:latin typeface="Aptos" panose="020B0004020202020204" pitchFamily="34" charset="0"/>
              </a:rPr>
              <a:t>components | services | owners | policy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3BA18A-0782-7F3E-3806-BCA00F914321}"/>
              </a:ext>
            </a:extLst>
          </p:cNvPr>
          <p:cNvSpPr/>
          <p:nvPr/>
        </p:nvSpPr>
        <p:spPr>
          <a:xfrm>
            <a:off x="3048000" y="2184400"/>
            <a:ext cx="1879600" cy="27178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CA07068-4ECC-7A65-0AAA-9E28126F0382}"/>
              </a:ext>
            </a:extLst>
          </p:cNvPr>
          <p:cNvSpPr/>
          <p:nvPr/>
        </p:nvSpPr>
        <p:spPr>
          <a:xfrm>
            <a:off x="3683000" y="2413000"/>
            <a:ext cx="609600" cy="6096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CA9950-8B4F-8432-7957-0941C7C964C9}"/>
              </a:ext>
            </a:extLst>
          </p:cNvPr>
          <p:cNvSpPr txBox="1"/>
          <p:nvPr/>
        </p:nvSpPr>
        <p:spPr>
          <a:xfrm>
            <a:off x="3873500" y="25527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 Display" panose="020B0004020202020204" pitchFamily="34" charset="0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D54381-790B-6FE1-F8CB-FD8D7C606251}"/>
              </a:ext>
            </a:extLst>
          </p:cNvPr>
          <p:cNvSpPr txBox="1"/>
          <p:nvPr/>
        </p:nvSpPr>
        <p:spPr>
          <a:xfrm>
            <a:off x="3225800" y="32258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1F2329"/>
                </a:solidFill>
                <a:latin typeface="Aptos Display" panose="020B0004020202020204" pitchFamily="34" charset="0"/>
              </a:rPr>
              <a:t>Cargo truth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24A9D9-B596-54F6-7336-AF8097666A45}"/>
              </a:ext>
            </a:extLst>
          </p:cNvPr>
          <p:cNvSpPr txBox="1"/>
          <p:nvPr/>
        </p:nvSpPr>
        <p:spPr>
          <a:xfrm>
            <a:off x="3251200" y="38989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646C77"/>
                </a:solidFill>
                <a:latin typeface="Aptos" panose="020B0004020202020204" pitchFamily="34" charset="0"/>
              </a:rPr>
              <a:t>packages | targets | features | sources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ACEDA7-35A0-FEDA-5F9A-1130D8AE692B}"/>
              </a:ext>
            </a:extLst>
          </p:cNvPr>
          <p:cNvSpPr/>
          <p:nvPr/>
        </p:nvSpPr>
        <p:spPr>
          <a:xfrm>
            <a:off x="5181600" y="1955800"/>
            <a:ext cx="1879600" cy="27178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1966E21-DF92-75B6-550C-FB87DD70E164}"/>
              </a:ext>
            </a:extLst>
          </p:cNvPr>
          <p:cNvSpPr/>
          <p:nvPr/>
        </p:nvSpPr>
        <p:spPr>
          <a:xfrm>
            <a:off x="5816600" y="2184400"/>
            <a:ext cx="609600" cy="6096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425DBA-F4F0-96DA-A0F2-015B1D222BC5}"/>
              </a:ext>
            </a:extLst>
          </p:cNvPr>
          <p:cNvSpPr txBox="1"/>
          <p:nvPr/>
        </p:nvSpPr>
        <p:spPr>
          <a:xfrm>
            <a:off x="6007100" y="2324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 Display" panose="020B0004020202020204" pitchFamily="34" charset="0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468C69-EE69-E2F2-8A7E-49C02AAE95AC}"/>
              </a:ext>
            </a:extLst>
          </p:cNvPr>
          <p:cNvSpPr txBox="1"/>
          <p:nvPr/>
        </p:nvSpPr>
        <p:spPr>
          <a:xfrm>
            <a:off x="5359400" y="29972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Contracts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BFB705-EBEE-D49D-EB16-0F7CC43D7A52}"/>
              </a:ext>
            </a:extLst>
          </p:cNvPr>
          <p:cNvSpPr txBox="1"/>
          <p:nvPr/>
        </p:nvSpPr>
        <p:spPr>
          <a:xfrm>
            <a:off x="5384800" y="36703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E5E1D8"/>
                </a:solidFill>
                <a:latin typeface="Aptos" panose="020B0004020202020204" pitchFamily="34" charset="0"/>
              </a:rPr>
              <a:t>Rust API | C ABI | CXX | WIT | wire IDL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965483E-1F7A-CF42-F895-009547B466ED}"/>
              </a:ext>
            </a:extLst>
          </p:cNvPr>
          <p:cNvSpPr/>
          <p:nvPr/>
        </p:nvSpPr>
        <p:spPr>
          <a:xfrm>
            <a:off x="7315200" y="2184400"/>
            <a:ext cx="1879600" cy="27178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B8477D-6064-2541-5987-A8BFA1698E40}"/>
              </a:ext>
            </a:extLst>
          </p:cNvPr>
          <p:cNvSpPr/>
          <p:nvPr/>
        </p:nvSpPr>
        <p:spPr>
          <a:xfrm>
            <a:off x="7950200" y="2413000"/>
            <a:ext cx="609600" cy="6096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7D6527-F342-0576-3E6B-948B7168E3BC}"/>
              </a:ext>
            </a:extLst>
          </p:cNvPr>
          <p:cNvSpPr txBox="1"/>
          <p:nvPr/>
        </p:nvSpPr>
        <p:spPr>
          <a:xfrm>
            <a:off x="8140700" y="25527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 Display" panose="020B0004020202020204" pitchFamily="34" charset="0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782F3E-B22E-D0E1-BFA4-DBFAB80C8F06}"/>
              </a:ext>
            </a:extLst>
          </p:cNvPr>
          <p:cNvSpPr txBox="1"/>
          <p:nvPr/>
        </p:nvSpPr>
        <p:spPr>
          <a:xfrm>
            <a:off x="7493000" y="32258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1F2329"/>
                </a:solidFill>
                <a:latin typeface="Aptos Display" panose="020B0004020202020204" pitchFamily="34" charset="0"/>
              </a:rPr>
              <a:t>Supported profiles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F696B8-626E-2AD1-9710-73E57F3F16AC}"/>
              </a:ext>
            </a:extLst>
          </p:cNvPr>
          <p:cNvSpPr txBox="1"/>
          <p:nvPr/>
        </p:nvSpPr>
        <p:spPr>
          <a:xfrm>
            <a:off x="7518400" y="38989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646C77"/>
                </a:solidFill>
                <a:latin typeface="Aptos" panose="020B0004020202020204" pitchFamily="34" charset="0"/>
              </a:rPr>
              <a:t>crates | providers | platforms | renewal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8E44CBF-CED0-ABA1-84A8-12BCAC13F8A5}"/>
              </a:ext>
            </a:extLst>
          </p:cNvPr>
          <p:cNvSpPr/>
          <p:nvPr/>
        </p:nvSpPr>
        <p:spPr>
          <a:xfrm>
            <a:off x="9448800" y="2413000"/>
            <a:ext cx="1879600" cy="27178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4D36EE1-02CF-C26B-5A0A-0AF2B14AF625}"/>
              </a:ext>
            </a:extLst>
          </p:cNvPr>
          <p:cNvSpPr/>
          <p:nvPr/>
        </p:nvSpPr>
        <p:spPr>
          <a:xfrm>
            <a:off x="10083800" y="2641600"/>
            <a:ext cx="609600" cy="6096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DF025F-D2F3-7ABC-6378-8B485CD5BEB8}"/>
              </a:ext>
            </a:extLst>
          </p:cNvPr>
          <p:cNvSpPr txBox="1"/>
          <p:nvPr/>
        </p:nvSpPr>
        <p:spPr>
          <a:xfrm>
            <a:off x="10274300" y="27813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 Display" panose="020B0004020202020204" pitchFamily="34" charset="0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38C574-DA16-C59F-730C-0DF2C4BAB0C2}"/>
              </a:ext>
            </a:extLst>
          </p:cNvPr>
          <p:cNvSpPr txBox="1"/>
          <p:nvPr/>
        </p:nvSpPr>
        <p:spPr>
          <a:xfrm>
            <a:off x="9626600" y="34544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1F2329"/>
                </a:solidFill>
                <a:latin typeface="Aptos Display" panose="020B0004020202020204" pitchFamily="34" charset="0"/>
              </a:rPr>
              <a:t>Evidence + lifecycle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963420-1198-EF2D-214B-646BCFDD3DC8}"/>
              </a:ext>
            </a:extLst>
          </p:cNvPr>
          <p:cNvSpPr txBox="1"/>
          <p:nvPr/>
        </p:nvSpPr>
        <p:spPr>
          <a:xfrm>
            <a:off x="9652000" y="41275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646C77"/>
                </a:solidFill>
                <a:latin typeface="Aptos" panose="020B0004020202020204" pitchFamily="34" charset="0"/>
              </a:rPr>
              <a:t>security | validation | rollback | removal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665AD8-D80A-C890-D693-1C77D0C6DDDD}"/>
              </a:ext>
            </a:extLst>
          </p:cNvPr>
          <p:cNvSpPr txBox="1"/>
          <p:nvPr/>
        </p:nvSpPr>
        <p:spPr>
          <a:xfrm>
            <a:off x="1143000" y="5588000"/>
            <a:ext cx="990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CE4A2B"/>
                </a:solidFill>
                <a:latin typeface="Aptos Display" panose="020B0004020202020204" pitchFamily="34" charset="0"/>
              </a:rPr>
              <a:t>One answer to: what is supported here, what changes now, what must be validated, and who may proceed?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78BD0D-D1DB-952C-DC64-71A7076FFE7D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Blueprints are renewable evidence records -- not permanent approved-crate lists.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B2609F-55A9-E478-7959-03C673719111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5336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1911E0-8303-1078-EF68-2937FB390779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GITHUB + COPILOT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1A82F-61B9-4125-DE83-B5DBEE532B43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Copilot's differentiated opportunity is governed native change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0BEBADD-E6E8-9A04-3BAC-D802096820F4}"/>
              </a:ext>
            </a:extLst>
          </p:cNvPr>
          <p:cNvSpPr/>
          <p:nvPr/>
        </p:nvSpPr>
        <p:spPr>
          <a:xfrm>
            <a:off x="1143000" y="1993900"/>
            <a:ext cx="711200" cy="7112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ABE1E7-158C-B66F-6DAF-C895A29230AF}"/>
              </a:ext>
            </a:extLst>
          </p:cNvPr>
          <p:cNvSpPr txBox="1"/>
          <p:nvPr/>
        </p:nvSpPr>
        <p:spPr>
          <a:xfrm>
            <a:off x="13843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1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2315780-DF2B-90FF-4DF1-3206E9206593}"/>
              </a:ext>
            </a:extLst>
          </p:cNvPr>
          <p:cNvCxnSpPr/>
          <p:nvPr/>
        </p:nvCxnSpPr>
        <p:spPr>
          <a:xfrm>
            <a:off x="1866900" y="2349500"/>
            <a:ext cx="609600" cy="0"/>
          </a:xfrm>
          <a:prstGeom prst="line">
            <a:avLst/>
          </a:prstGeom>
          <a:ln w="38100">
            <a:solidFill>
              <a:srgbClr val="D95F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004B9CB-05C7-F016-14CC-1D1660BFC887}"/>
              </a:ext>
            </a:extLst>
          </p:cNvPr>
          <p:cNvSpPr txBox="1"/>
          <p:nvPr/>
        </p:nvSpPr>
        <p:spPr>
          <a:xfrm>
            <a:off x="6096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Discover application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A20A0B7-3CC1-03F3-67CE-C95F51D94D8B}"/>
              </a:ext>
            </a:extLst>
          </p:cNvPr>
          <p:cNvSpPr/>
          <p:nvPr/>
        </p:nvSpPr>
        <p:spPr>
          <a:xfrm>
            <a:off x="3035300" y="1993900"/>
            <a:ext cx="711200" cy="7112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91A035-D455-7FF0-C348-A21294D8A0FE}"/>
              </a:ext>
            </a:extLst>
          </p:cNvPr>
          <p:cNvSpPr txBox="1"/>
          <p:nvPr/>
        </p:nvSpPr>
        <p:spPr>
          <a:xfrm>
            <a:off x="32766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8613A9-5D0C-AF89-F032-AC9FE48DA119}"/>
              </a:ext>
            </a:extLst>
          </p:cNvPr>
          <p:cNvCxnSpPr/>
          <p:nvPr/>
        </p:nvCxnSpPr>
        <p:spPr>
          <a:xfrm>
            <a:off x="3759200" y="2349500"/>
            <a:ext cx="609600" cy="0"/>
          </a:xfrm>
          <a:prstGeom prst="line">
            <a:avLst/>
          </a:prstGeom>
          <a:ln w="38100">
            <a:solidFill>
              <a:srgbClr val="D95F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7A17B5F-FFA2-C7B8-7672-86F15149807D}"/>
              </a:ext>
            </a:extLst>
          </p:cNvPr>
          <p:cNvSpPr txBox="1"/>
          <p:nvPr/>
        </p:nvSpPr>
        <p:spPr>
          <a:xfrm>
            <a:off x="25019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Plan affected work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C8C4B53-F565-258F-5DC9-38279B2CE42D}"/>
              </a:ext>
            </a:extLst>
          </p:cNvPr>
          <p:cNvSpPr/>
          <p:nvPr/>
        </p:nvSpPr>
        <p:spPr>
          <a:xfrm>
            <a:off x="4927600" y="1993900"/>
            <a:ext cx="711200" cy="7112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97E424-3C27-B94A-EE2D-BB57C520754C}"/>
              </a:ext>
            </a:extLst>
          </p:cNvPr>
          <p:cNvSpPr txBox="1"/>
          <p:nvPr/>
        </p:nvSpPr>
        <p:spPr>
          <a:xfrm>
            <a:off x="51689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0FAB92-BA25-B78F-86F0-5245B0675E73}"/>
              </a:ext>
            </a:extLst>
          </p:cNvPr>
          <p:cNvCxnSpPr/>
          <p:nvPr/>
        </p:nvCxnSpPr>
        <p:spPr>
          <a:xfrm>
            <a:off x="5651500" y="2349500"/>
            <a:ext cx="609600" cy="0"/>
          </a:xfrm>
          <a:prstGeom prst="line">
            <a:avLst/>
          </a:prstGeom>
          <a:ln w="38100">
            <a:solidFill>
              <a:srgbClr val="D95F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E3DE107-2988-2DF4-1041-043E627E2502}"/>
              </a:ext>
            </a:extLst>
          </p:cNvPr>
          <p:cNvSpPr txBox="1"/>
          <p:nvPr/>
        </p:nvSpPr>
        <p:spPr>
          <a:xfrm>
            <a:off x="43942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Generate in scope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1E07956-24BE-03B3-BCB5-2DD95A4DF0DC}"/>
              </a:ext>
            </a:extLst>
          </p:cNvPr>
          <p:cNvSpPr/>
          <p:nvPr/>
        </p:nvSpPr>
        <p:spPr>
          <a:xfrm>
            <a:off x="6819900" y="1993900"/>
            <a:ext cx="711200" cy="7112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6BCC73-8E52-F6B2-0677-9F683C1043BB}"/>
              </a:ext>
            </a:extLst>
          </p:cNvPr>
          <p:cNvSpPr txBox="1"/>
          <p:nvPr/>
        </p:nvSpPr>
        <p:spPr>
          <a:xfrm>
            <a:off x="70612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4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0A37926-DD24-52D4-95CC-E00AA0E21A22}"/>
              </a:ext>
            </a:extLst>
          </p:cNvPr>
          <p:cNvCxnSpPr/>
          <p:nvPr/>
        </p:nvCxnSpPr>
        <p:spPr>
          <a:xfrm>
            <a:off x="7543800" y="2349500"/>
            <a:ext cx="609600" cy="0"/>
          </a:xfrm>
          <a:prstGeom prst="line">
            <a:avLst/>
          </a:prstGeom>
          <a:ln w="38100">
            <a:solidFill>
              <a:srgbClr val="D95F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840990D-5865-0AE3-4D11-312ADEF27819}"/>
              </a:ext>
            </a:extLst>
          </p:cNvPr>
          <p:cNvSpPr txBox="1"/>
          <p:nvPr/>
        </p:nvSpPr>
        <p:spPr>
          <a:xfrm>
            <a:off x="62865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Compile + validate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13A2D6F-C505-F5BC-8BCE-B9776EB0F589}"/>
              </a:ext>
            </a:extLst>
          </p:cNvPr>
          <p:cNvSpPr/>
          <p:nvPr/>
        </p:nvSpPr>
        <p:spPr>
          <a:xfrm>
            <a:off x="8712200" y="1993900"/>
            <a:ext cx="711200" cy="7112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DBA7B7-CB4E-7F1A-3FB4-0662653AD4CF}"/>
              </a:ext>
            </a:extLst>
          </p:cNvPr>
          <p:cNvSpPr txBox="1"/>
          <p:nvPr/>
        </p:nvSpPr>
        <p:spPr>
          <a:xfrm>
            <a:off x="89535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0CA3DC-36CC-035D-8F9A-6CF57038C911}"/>
              </a:ext>
            </a:extLst>
          </p:cNvPr>
          <p:cNvCxnSpPr/>
          <p:nvPr/>
        </p:nvCxnSpPr>
        <p:spPr>
          <a:xfrm>
            <a:off x="9436100" y="2349500"/>
            <a:ext cx="609600" cy="0"/>
          </a:xfrm>
          <a:prstGeom prst="line">
            <a:avLst/>
          </a:prstGeom>
          <a:ln w="38100">
            <a:solidFill>
              <a:srgbClr val="D95F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52B558B-9E4C-6D90-9E7F-4EDFB6B9732F}"/>
              </a:ext>
            </a:extLst>
          </p:cNvPr>
          <p:cNvSpPr txBox="1"/>
          <p:nvPr/>
        </p:nvSpPr>
        <p:spPr>
          <a:xfrm>
            <a:off x="81788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Attach evidence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2085BF8-6E66-BFFA-ABA9-5EF9DDFADF49}"/>
              </a:ext>
            </a:extLst>
          </p:cNvPr>
          <p:cNvSpPr/>
          <p:nvPr/>
        </p:nvSpPr>
        <p:spPr>
          <a:xfrm>
            <a:off x="10604500" y="1993900"/>
            <a:ext cx="711200" cy="7112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30FDFF-C0E0-E347-024B-C04E3EF914B7}"/>
              </a:ext>
            </a:extLst>
          </p:cNvPr>
          <p:cNvSpPr txBox="1"/>
          <p:nvPr/>
        </p:nvSpPr>
        <p:spPr>
          <a:xfrm>
            <a:off x="108458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10212D"/>
                </a:solidFill>
                <a:latin typeface="Aptos Display" panose="020B0004020202020204" pitchFamily="34" charset="0"/>
              </a:rPr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FC4D80-DCF2-B50B-896F-61BD49BAF136}"/>
              </a:ext>
            </a:extLst>
          </p:cNvPr>
          <p:cNvSpPr txBox="1"/>
          <p:nvPr/>
        </p:nvSpPr>
        <p:spPr>
          <a:xfrm>
            <a:off x="100711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Human approval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766FF75-58DF-23D4-5801-AA69F4399CBE}"/>
              </a:ext>
            </a:extLst>
          </p:cNvPr>
          <p:cNvSpPr/>
          <p:nvPr/>
        </p:nvSpPr>
        <p:spPr>
          <a:xfrm>
            <a:off x="1270000" y="4064000"/>
            <a:ext cx="9652000" cy="13462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A7296A-34AD-7BAB-02B4-3A7A2E6D43FD}"/>
              </a:ext>
            </a:extLst>
          </p:cNvPr>
          <p:cNvSpPr txBox="1"/>
          <p:nvPr/>
        </p:nvSpPr>
        <p:spPr>
          <a:xfrm>
            <a:off x="1676400" y="43434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D95F31"/>
                </a:solidFill>
                <a:latin typeface="Aptos" panose="020B0004020202020204" pitchFamily="34" charset="0"/>
              </a:rPr>
              <a:t>Not "Copilot writes Rust."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988CA5-FCDA-3AC9-050B-F274F8DC5A68}"/>
              </a:ext>
            </a:extLst>
          </p:cNvPr>
          <p:cNvSpPr txBox="1"/>
          <p:nvPr/>
        </p:nvSpPr>
        <p:spPr>
          <a:xfrm>
            <a:off x="1676400" y="480060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Aptos Display" panose="020B0004020202020204" pitchFamily="34" charset="0"/>
              </a:rPr>
              <a:t>Copilot changes native systems with compiler-grounded, application-aware evidence.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AF8725-CAEC-059B-2B66-CC5B411D1F16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AI may propose scope. Deterministic policy controls narrowing; unknowns widen safely.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82E969-BB72-02C7-30D3-ED837F671F24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103440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3EDDCC-7782-3D5E-1D9C-D20479D63007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WHERE MICROSOFT PLAYS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CAAF94-B698-62BD-A34C-7F0BBB558C8C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Invest in two portfolios -- and keep the boundary explicit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49284A0-8FFC-CB54-433F-9A427B958214}"/>
              </a:ext>
            </a:extLst>
          </p:cNvPr>
          <p:cNvSpPr/>
          <p:nvPr/>
        </p:nvSpPr>
        <p:spPr>
          <a:xfrm>
            <a:off x="558800" y="1625600"/>
            <a:ext cx="5232400" cy="4013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E25F504-35B6-7A2F-4945-2EE678DD876A}"/>
              </a:ext>
            </a:extLst>
          </p:cNvPr>
          <p:cNvSpPr/>
          <p:nvPr/>
        </p:nvSpPr>
        <p:spPr>
          <a:xfrm>
            <a:off x="6400800" y="1625600"/>
            <a:ext cx="5232400" cy="4013200"/>
          </a:xfrm>
          <a:prstGeom prst="roundRect">
            <a:avLst/>
          </a:prstGeom>
          <a:solidFill>
            <a:srgbClr val="F3F2EA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92C39-A56D-F6E3-EBC2-781A69AE2DA2}"/>
              </a:ext>
            </a:extLst>
          </p:cNvPr>
          <p:cNvSpPr txBox="1"/>
          <p:nvPr/>
        </p:nvSpPr>
        <p:spPr>
          <a:xfrm>
            <a:off x="889000" y="1955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CE4A2B"/>
                </a:solidFill>
                <a:latin typeface="Aptos" panose="020B0004020202020204" pitchFamily="34" charset="0"/>
              </a:rPr>
              <a:t>UPSTREAM PUBLIC GOOD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AB8F5C-8C8F-D3EA-9268-10190FA807AB}"/>
              </a:ext>
            </a:extLst>
          </p:cNvPr>
          <p:cNvSpPr txBox="1"/>
          <p:nvPr/>
        </p:nvSpPr>
        <p:spPr>
          <a:xfrm>
            <a:off x="889000" y="23622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646C77"/>
                </a:solidFill>
                <a:latin typeface="Aptos" panose="020B0004020202020204" pitchFamily="34" charset="0"/>
              </a:rPr>
              <a:t>Earn trust through existing owners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F930E0-3D5F-C75D-8D1A-0F13B4B89C4F}"/>
              </a:ext>
            </a:extLst>
          </p:cNvPr>
          <p:cNvSpPr txBox="1"/>
          <p:nvPr/>
        </p:nvSpPr>
        <p:spPr>
          <a:xfrm>
            <a:off x="889000" y="29210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F2329"/>
                </a:solidFill>
                <a:latin typeface="Aptos" panose="020B0004020202020204" pitchFamily="34" charset="0"/>
              </a:rPr>
              <a:t>rustc + Cargo performance
Windows target, linker + debugger
Interop patterns + conformance
Supply chain + trusted publishing
Critical crate stewardship
Async diagnostics + WIT
Public AI assurance fixtures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E2EBE3-A9E6-1A89-7C4A-B779D7A3BDC2}"/>
              </a:ext>
            </a:extLst>
          </p:cNvPr>
          <p:cNvSpPr txBox="1"/>
          <p:nvPr/>
        </p:nvSpPr>
        <p:spPr>
          <a:xfrm>
            <a:off x="6731000" y="1955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2B8C8"/>
                </a:solidFill>
                <a:latin typeface="Aptos" panose="020B0004020202020204" pitchFamily="34" charset="0"/>
              </a:rPr>
              <a:t>MICROSOFT DIFFERENTIATION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7E07E2-1432-7C6F-BEEA-D8133404FA16}"/>
              </a:ext>
            </a:extLst>
          </p:cNvPr>
          <p:cNvSpPr txBox="1"/>
          <p:nvPr/>
        </p:nvSpPr>
        <p:spPr>
          <a:xfrm>
            <a:off x="6731000" y="23622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646C77"/>
                </a:solidFill>
                <a:latin typeface="Aptos" panose="020B0004020202020204" pitchFamily="34" charset="0"/>
              </a:rPr>
              <a:t>Build where Microsoft has asymmetric assets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B544BB-420D-5C5F-B42E-92F2CC45532A}"/>
              </a:ext>
            </a:extLst>
          </p:cNvPr>
          <p:cNvSpPr txBox="1"/>
          <p:nvPr/>
        </p:nvSpPr>
        <p:spPr>
          <a:xfrm>
            <a:off x="6731000" y="29210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F2329"/>
                </a:solidFill>
                <a:latin typeface="Aptos" panose="020B0004020202020204" pitchFamily="34" charset="0"/>
              </a:rPr>
              <a:t>GitHub Rust estate intelligence
Copilot governed native change
Azure build + provenance plane
Windows enterprise Rust excellence
Renewable application profiles
Cross-repository affected work
Entra / Key Vault / policy connectors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A15B6A-2181-F009-FF0A-026F0432CFB9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Rule: shared language infrastructure upstream; portable application governance plus Microsoft integrations in product.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7AE67C-48E7-BD42-F247-51C41E300225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07399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352744-CAD7-EC1D-502A-282223FC4FCF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UPSTREAM STEWARDSHIP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EE8212-F5B9-80FE-C41B-F6A813786A00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Microsoft can earn durable community credit by funding the hard middle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86ABD0-00BE-25D8-CB39-6138225C8191}"/>
              </a:ext>
            </a:extLst>
          </p:cNvPr>
          <p:cNvSpPr/>
          <p:nvPr/>
        </p:nvSpPr>
        <p:spPr>
          <a:xfrm>
            <a:off x="685800" y="1574800"/>
            <a:ext cx="1905000" cy="6350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946F94-A4CC-3C44-8CC6-B719AB23DC3E}"/>
              </a:ext>
            </a:extLst>
          </p:cNvPr>
          <p:cNvSpPr txBox="1"/>
          <p:nvPr/>
        </p:nvSpPr>
        <p:spPr>
          <a:xfrm>
            <a:off x="914400" y="17526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Measure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A7AE90-4D9B-F4DC-87AE-778F7E2D5E5C}"/>
              </a:ext>
            </a:extLst>
          </p:cNvPr>
          <p:cNvSpPr txBox="1"/>
          <p:nvPr/>
        </p:nvSpPr>
        <p:spPr>
          <a:xfrm>
            <a:off x="3022600" y="17145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Benchmarks, minimized regressions, cross-platform fixtures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7EDC4D-20AC-3F5F-4260-0620486C0B81}"/>
              </a:ext>
            </a:extLst>
          </p:cNvPr>
          <p:cNvSpPr/>
          <p:nvPr/>
        </p:nvSpPr>
        <p:spPr>
          <a:xfrm>
            <a:off x="685800" y="2463800"/>
            <a:ext cx="1905000" cy="6350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DF6BE-9BE0-8B3D-A1B0-01C1D129FB59}"/>
              </a:ext>
            </a:extLst>
          </p:cNvPr>
          <p:cNvSpPr txBox="1"/>
          <p:nvPr/>
        </p:nvSpPr>
        <p:spPr>
          <a:xfrm>
            <a:off x="914400" y="26416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Align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FAF746-1AC0-1F6F-725B-7F0A0F508894}"/>
              </a:ext>
            </a:extLst>
          </p:cNvPr>
          <p:cNvSpPr txBox="1"/>
          <p:nvPr/>
        </p:nvSpPr>
        <p:spPr>
          <a:xfrm>
            <a:off x="3022600" y="26035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Ask maintainers where evidence and implementation belong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6B8132-85BC-3C59-4F6C-75277302C1F4}"/>
              </a:ext>
            </a:extLst>
          </p:cNvPr>
          <p:cNvSpPr/>
          <p:nvPr/>
        </p:nvSpPr>
        <p:spPr>
          <a:xfrm>
            <a:off x="685800" y="3352800"/>
            <a:ext cx="1905000" cy="635000"/>
          </a:xfrm>
          <a:prstGeom prst="roundRect">
            <a:avLst/>
          </a:prstGeom>
          <a:solidFill>
            <a:srgbClr val="CE4A2B"/>
          </a:solidFill>
          <a:ln w="19050" cap="flat" cmpd="sng" algn="ctr">
            <a:solidFill>
              <a:srgbClr val="CE4A2B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43B06B-C296-66BD-40D5-CA050143B346}"/>
              </a:ext>
            </a:extLst>
          </p:cNvPr>
          <p:cNvSpPr txBox="1"/>
          <p:nvPr/>
        </p:nvSpPr>
        <p:spPr>
          <a:xfrm>
            <a:off x="914400" y="35306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Contribute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994F4C-E982-FA0C-90B7-EE4F3BE466D7}"/>
              </a:ext>
            </a:extLst>
          </p:cNvPr>
          <p:cNvSpPr txBox="1"/>
          <p:nvPr/>
        </p:nvSpPr>
        <p:spPr>
          <a:xfrm>
            <a:off x="3022600" y="34925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Tests, patches, documentation, review and infrastructure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87A6AAB-AA72-9B30-4756-712E7A3F36D5}"/>
              </a:ext>
            </a:extLst>
          </p:cNvPr>
          <p:cNvSpPr/>
          <p:nvPr/>
        </p:nvSpPr>
        <p:spPr>
          <a:xfrm>
            <a:off x="685800" y="4241800"/>
            <a:ext cx="1905000" cy="6350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7790E6-69B2-AD28-07DC-2068B20EF309}"/>
              </a:ext>
            </a:extLst>
          </p:cNvPr>
          <p:cNvSpPr txBox="1"/>
          <p:nvPr/>
        </p:nvSpPr>
        <p:spPr>
          <a:xfrm>
            <a:off x="914400" y="44196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Maintain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285DE3-1E3A-5BF3-D033-50E3F90146AF}"/>
              </a:ext>
            </a:extLst>
          </p:cNvPr>
          <p:cNvSpPr txBox="1"/>
          <p:nvPr/>
        </p:nvSpPr>
        <p:spPr>
          <a:xfrm>
            <a:off x="3022600" y="43815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Fund releases, triage, compatibility, and succession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B8DCAA0-5453-EF11-84FE-A6B8423B7A5C}"/>
              </a:ext>
            </a:extLst>
          </p:cNvPr>
          <p:cNvSpPr/>
          <p:nvPr/>
        </p:nvSpPr>
        <p:spPr>
          <a:xfrm>
            <a:off x="685800" y="5130800"/>
            <a:ext cx="1905000" cy="6350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4838F59-3429-9C90-CACA-9DBDD47210E3}"/>
              </a:ext>
            </a:extLst>
          </p:cNvPr>
          <p:cNvSpPr txBox="1"/>
          <p:nvPr/>
        </p:nvSpPr>
        <p:spPr>
          <a:xfrm>
            <a:off x="914400" y="53086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Retire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88DE5A-DFD2-496A-8E45-9ACE46525C55}"/>
              </a:ext>
            </a:extLst>
          </p:cNvPr>
          <p:cNvSpPr txBox="1"/>
          <p:nvPr/>
        </p:nvSpPr>
        <p:spPr>
          <a:xfrm>
            <a:off x="3022600" y="52705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Remove downstream work when upstream or consumer need changes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CAB785-7216-716C-F10E-D4DCC5BA795B}"/>
              </a:ext>
            </a:extLst>
          </p:cNvPr>
          <p:cNvSpPr txBox="1"/>
          <p:nvPr/>
        </p:nvSpPr>
        <p:spPr>
          <a:xfrm>
            <a:off x="685800" y="5867400"/>
            <a:ext cx="10693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CE4A2B"/>
                </a:solidFill>
                <a:latin typeface="Aptos Display" panose="020B0004020202020204" pitchFamily="34" charset="0"/>
              </a:rPr>
              <a:t>Success = accepted, maintained, broadly useful upstream outcomes -- not a Microsoft-owned fork.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D75823-CE6A-BBC5-A094-12DB3146A158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Initial targets: rustc-perf RDR benchmark, Cargo evidence, Windows tooling, generated-boundary provenance.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FCCAFD-BDA4-C5FC-1947-BE98D62C5B30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849144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462840-FA94-5CAC-3552-99BEE0551567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FERRIS PILOT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B7BA57-B207-36C6-2E8E-35DC42AB897E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Prove the strategy on one real, removable application slice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18BD8C-629A-FC62-C4A5-9C349EAA5BCC}"/>
              </a:ext>
            </a:extLst>
          </p:cNvPr>
          <p:cNvSpPr/>
          <p:nvPr/>
        </p:nvSpPr>
        <p:spPr>
          <a:xfrm>
            <a:off x="660400" y="16510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F19460A-3B6B-5DF5-228F-36088F0C2586}"/>
              </a:ext>
            </a:extLst>
          </p:cNvPr>
          <p:cNvSpPr/>
          <p:nvPr/>
        </p:nvSpPr>
        <p:spPr>
          <a:xfrm>
            <a:off x="863600" y="1841500"/>
            <a:ext cx="431800" cy="431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D4AA8-EF30-285D-0EB1-4E12762C8845}"/>
              </a:ext>
            </a:extLst>
          </p:cNvPr>
          <p:cNvSpPr txBox="1"/>
          <p:nvPr/>
        </p:nvSpPr>
        <p:spPr>
          <a:xfrm>
            <a:off x="939800" y="19304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00" b="1">
                <a:solidFill>
                  <a:srgbClr val="10212D"/>
                </a:solidFill>
                <a:latin typeface="Aptos Display" panose="020B0004020202020204" pitchFamily="34" charset="0"/>
              </a:rPr>
              <a:t>OK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FA4467-CFD1-68E9-21D4-53E8DC7C2159}"/>
              </a:ext>
            </a:extLst>
          </p:cNvPr>
          <p:cNvSpPr txBox="1"/>
          <p:nvPr/>
        </p:nvSpPr>
        <p:spPr>
          <a:xfrm>
            <a:off x="1447800" y="1905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2+ Cargo workspaces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E420848-1EE8-BBA9-39E4-B1D305295C07}"/>
              </a:ext>
            </a:extLst>
          </p:cNvPr>
          <p:cNvSpPr/>
          <p:nvPr/>
        </p:nvSpPr>
        <p:spPr>
          <a:xfrm>
            <a:off x="4419600" y="16510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2C20323-28B8-7133-8817-E41775654BDA}"/>
              </a:ext>
            </a:extLst>
          </p:cNvPr>
          <p:cNvSpPr/>
          <p:nvPr/>
        </p:nvSpPr>
        <p:spPr>
          <a:xfrm>
            <a:off x="4622800" y="1841500"/>
            <a:ext cx="431800" cy="431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C5BA7A-CFE4-1CDC-74BE-A35B9F958D17}"/>
              </a:ext>
            </a:extLst>
          </p:cNvPr>
          <p:cNvSpPr txBox="1"/>
          <p:nvPr/>
        </p:nvSpPr>
        <p:spPr>
          <a:xfrm>
            <a:off x="4699000" y="19304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00" b="1">
                <a:solidFill>
                  <a:srgbClr val="10212D"/>
                </a:solidFill>
                <a:latin typeface="Aptos Display" panose="020B0004020202020204" pitchFamily="34" charset="0"/>
              </a:rPr>
              <a:t>OK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40BED-7B1F-4FE8-55E2-99E5906CDB6E}"/>
              </a:ext>
            </a:extLst>
          </p:cNvPr>
          <p:cNvSpPr txBox="1"/>
          <p:nvPr/>
        </p:nvSpPr>
        <p:spPr>
          <a:xfrm>
            <a:off x="5207000" y="1905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C/C++ or native boundary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521722E-B6CA-65B4-52D4-D411F79C37B9}"/>
              </a:ext>
            </a:extLst>
          </p:cNvPr>
          <p:cNvSpPr/>
          <p:nvPr/>
        </p:nvSpPr>
        <p:spPr>
          <a:xfrm>
            <a:off x="8178800" y="16510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7563B22-E746-A69E-1776-575A2A599E37}"/>
              </a:ext>
            </a:extLst>
          </p:cNvPr>
          <p:cNvSpPr/>
          <p:nvPr/>
        </p:nvSpPr>
        <p:spPr>
          <a:xfrm>
            <a:off x="8382000" y="1841500"/>
            <a:ext cx="431800" cy="431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77028B-2411-9595-19E7-0F7D8C53AB31}"/>
              </a:ext>
            </a:extLst>
          </p:cNvPr>
          <p:cNvSpPr txBox="1"/>
          <p:nvPr/>
        </p:nvSpPr>
        <p:spPr>
          <a:xfrm>
            <a:off x="8458200" y="19304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00" b="1">
                <a:solidFill>
                  <a:srgbClr val="10212D"/>
                </a:solidFill>
                <a:latin typeface="Aptos Display" panose="020B0004020202020204" pitchFamily="34" charset="0"/>
              </a:rPr>
              <a:t>OK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9B18DA-F2EB-4AFB-6F8D-363EC6843747}"/>
              </a:ext>
            </a:extLst>
          </p:cNvPr>
          <p:cNvSpPr txBox="1"/>
          <p:nvPr/>
        </p:nvSpPr>
        <p:spPr>
          <a:xfrm>
            <a:off x="8966200" y="1905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Service or WIT contract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0ABB734-569F-AABE-7E3E-E6A2F704D56E}"/>
              </a:ext>
            </a:extLst>
          </p:cNvPr>
          <p:cNvSpPr/>
          <p:nvPr/>
        </p:nvSpPr>
        <p:spPr>
          <a:xfrm>
            <a:off x="660400" y="27686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98A656-48BA-1465-F714-31D7D4A52A61}"/>
              </a:ext>
            </a:extLst>
          </p:cNvPr>
          <p:cNvSpPr/>
          <p:nvPr/>
        </p:nvSpPr>
        <p:spPr>
          <a:xfrm>
            <a:off x="863600" y="2959100"/>
            <a:ext cx="431800" cy="431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A32144-E879-0997-8FEB-68F9D7558F63}"/>
              </a:ext>
            </a:extLst>
          </p:cNvPr>
          <p:cNvSpPr txBox="1"/>
          <p:nvPr/>
        </p:nvSpPr>
        <p:spPr>
          <a:xfrm>
            <a:off x="939800" y="3048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00" b="1">
                <a:solidFill>
                  <a:srgbClr val="10212D"/>
                </a:solidFill>
                <a:latin typeface="Aptos Display" panose="020B0004020202020204" pitchFamily="34" charset="0"/>
              </a:rPr>
              <a:t>OK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620738-6F21-89BB-9621-4E3422D396A2}"/>
              </a:ext>
            </a:extLst>
          </p:cNvPr>
          <p:cNvSpPr txBox="1"/>
          <p:nvPr/>
        </p:nvSpPr>
        <p:spPr>
          <a:xfrm>
            <a:off x="1447800" y="3022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Windows + Linux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8D0175-AC13-9D05-B021-D358CFB3A68A}"/>
              </a:ext>
            </a:extLst>
          </p:cNvPr>
          <p:cNvSpPr/>
          <p:nvPr/>
        </p:nvSpPr>
        <p:spPr>
          <a:xfrm>
            <a:off x="4419600" y="27686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6E13CE5-4502-598A-C434-EB94597DE2BD}"/>
              </a:ext>
            </a:extLst>
          </p:cNvPr>
          <p:cNvSpPr/>
          <p:nvPr/>
        </p:nvSpPr>
        <p:spPr>
          <a:xfrm>
            <a:off x="4622800" y="2959100"/>
            <a:ext cx="431800" cy="431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294B40-ADCC-EDC8-2147-C3CDF7AFB7FF}"/>
              </a:ext>
            </a:extLst>
          </p:cNvPr>
          <p:cNvSpPr txBox="1"/>
          <p:nvPr/>
        </p:nvSpPr>
        <p:spPr>
          <a:xfrm>
            <a:off x="4699000" y="3048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00" b="1">
                <a:solidFill>
                  <a:srgbClr val="10212D"/>
                </a:solidFill>
                <a:latin typeface="Aptos Display" panose="020B0004020202020204" pitchFamily="34" charset="0"/>
              </a:rPr>
              <a:t>OK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799F3E-5793-C71A-BBF6-4712620BB95F}"/>
              </a:ext>
            </a:extLst>
          </p:cNvPr>
          <p:cNvSpPr txBox="1"/>
          <p:nvPr/>
        </p:nvSpPr>
        <p:spPr>
          <a:xfrm>
            <a:off x="5207000" y="3022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GitHub PR + CI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E9C477D-A2DB-563D-A875-342ECFFB18A8}"/>
              </a:ext>
            </a:extLst>
          </p:cNvPr>
          <p:cNvSpPr/>
          <p:nvPr/>
        </p:nvSpPr>
        <p:spPr>
          <a:xfrm>
            <a:off x="8178800" y="27686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A224A69-0D91-B5F0-1CC9-7A3B9DEE5D32}"/>
              </a:ext>
            </a:extLst>
          </p:cNvPr>
          <p:cNvSpPr/>
          <p:nvPr/>
        </p:nvSpPr>
        <p:spPr>
          <a:xfrm>
            <a:off x="8382000" y="2959100"/>
            <a:ext cx="431800" cy="431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A89525-C1BB-D0C3-80E8-D095CD493CBF}"/>
              </a:ext>
            </a:extLst>
          </p:cNvPr>
          <p:cNvSpPr txBox="1"/>
          <p:nvPr/>
        </p:nvSpPr>
        <p:spPr>
          <a:xfrm>
            <a:off x="8458200" y="3048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00" b="1">
                <a:solidFill>
                  <a:srgbClr val="10212D"/>
                </a:solidFill>
                <a:latin typeface="Aptos Display" panose="020B0004020202020204" pitchFamily="34" charset="0"/>
              </a:rPr>
              <a:t>OK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06C58C-F42C-EF96-F261-E73F03B69FEA}"/>
              </a:ext>
            </a:extLst>
          </p:cNvPr>
          <p:cNvSpPr txBox="1"/>
          <p:nvPr/>
        </p:nvSpPr>
        <p:spPr>
          <a:xfrm>
            <a:off x="8966200" y="3022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Azure integration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E240A36-97A1-8AE3-9D1F-0F6B10192DCB}"/>
              </a:ext>
            </a:extLst>
          </p:cNvPr>
          <p:cNvSpPr/>
          <p:nvPr/>
        </p:nvSpPr>
        <p:spPr>
          <a:xfrm>
            <a:off x="660400" y="4241800"/>
            <a:ext cx="10947400" cy="14732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F480E6-CFB2-D918-BD1C-990CBD8063A0}"/>
              </a:ext>
            </a:extLst>
          </p:cNvPr>
          <p:cNvSpPr txBox="1"/>
          <p:nvPr/>
        </p:nvSpPr>
        <p:spPr>
          <a:xfrm>
            <a:off x="990600" y="4546600"/>
            <a:ext cx="1026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Aptos Display" panose="020B0004020202020204" pitchFamily="34" charset="0"/>
              </a:rPr>
              <a:t>The pilot only passes if it can explain, renew, fall back, roll back, and remove.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32746E-4019-7CC3-0BB9-A4A09474702A}"/>
              </a:ext>
            </a:extLst>
          </p:cNvPr>
          <p:cNvSpPr txBox="1"/>
          <p:nvPr/>
        </p:nvSpPr>
        <p:spPr>
          <a:xfrm>
            <a:off x="990600" y="5105400"/>
            <a:ext cx="1026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D95F31"/>
                </a:solidFill>
                <a:latin typeface="Aptos" panose="020B0004020202020204" pitchFamily="34" charset="0"/>
              </a:rPr>
              <a:t>And it must create at least one useful upstream contribution packet.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19066A-AFD5-D652-BCCB-EA2654EAA716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Ferris remains read-first and Cargo-native; execution authority expands only through separate governed gates.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3FFA88-67CB-DCD4-B139-E8706B1F1B4D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47010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D6C4EE-3FE9-01B7-A1E4-851FEDEF52CC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ROADMAP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12BFC-6CE8-0F1B-E351-FE2D66BD613E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A staged investment keeps ambition high and risk bounded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6B3D865-B2D3-F7B7-21A3-047DA90514F7}"/>
              </a:ext>
            </a:extLst>
          </p:cNvPr>
          <p:cNvSpPr/>
          <p:nvPr/>
        </p:nvSpPr>
        <p:spPr>
          <a:xfrm>
            <a:off x="558800" y="1803400"/>
            <a:ext cx="2514600" cy="35560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68DB90-4B46-D10C-A19B-72AB98FD727A}"/>
              </a:ext>
            </a:extLst>
          </p:cNvPr>
          <p:cNvSpPr txBox="1"/>
          <p:nvPr/>
        </p:nvSpPr>
        <p:spPr>
          <a:xfrm>
            <a:off x="762000" y="2057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D95F31"/>
                </a:solidFill>
                <a:latin typeface="Aptos" panose="020B0004020202020204" pitchFamily="34" charset="0"/>
              </a:rPr>
              <a:t>0-90 DAYS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44B21E-660E-231A-D5DA-B084FC562852}"/>
              </a:ext>
            </a:extLst>
          </p:cNvPr>
          <p:cNvSpPr txBox="1"/>
          <p:nvPr/>
        </p:nvSpPr>
        <p:spPr>
          <a:xfrm>
            <a:off x="762000" y="2565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FFFFFF"/>
                </a:solidFill>
                <a:latin typeface="Aptos Display" panose="020B0004020202020204" pitchFamily="34" charset="0"/>
              </a:rPr>
              <a:t>Sponsor + discover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52409F-A9EE-BDED-DBA9-88F2E643D481}"/>
              </a:ext>
            </a:extLst>
          </p:cNvPr>
          <p:cNvSpPr txBox="1"/>
          <p:nvPr/>
        </p:nvSpPr>
        <p:spPr>
          <a:xfrm>
            <a:off x="762000" y="3505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E5E1D8"/>
                </a:solidFill>
                <a:latin typeface="Aptos" panose="020B0004020202020204" pitchFamily="34" charset="0"/>
              </a:rPr>
              <a:t>Estate census
Design partners
Baseline + upstream liaison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C139A1F-F9B3-3CCE-2420-D5DBF998CE46}"/>
              </a:ext>
            </a:extLst>
          </p:cNvPr>
          <p:cNvSpPr/>
          <p:nvPr/>
        </p:nvSpPr>
        <p:spPr>
          <a:xfrm>
            <a:off x="3378200" y="1803400"/>
            <a:ext cx="2514600" cy="35560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0EF3D1-A309-3142-470E-E5FD264D519F}"/>
              </a:ext>
            </a:extLst>
          </p:cNvPr>
          <p:cNvSpPr txBox="1"/>
          <p:nvPr/>
        </p:nvSpPr>
        <p:spPr>
          <a:xfrm>
            <a:off x="3581400" y="2057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CE4A2B"/>
                </a:solidFill>
                <a:latin typeface="Aptos" panose="020B0004020202020204" pitchFamily="34" charset="0"/>
              </a:rPr>
              <a:t>3-6 MONTHS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E3A806-1385-4DD1-7E16-D360ED022593}"/>
              </a:ext>
            </a:extLst>
          </p:cNvPr>
          <p:cNvSpPr txBox="1"/>
          <p:nvPr/>
        </p:nvSpPr>
        <p:spPr>
          <a:xfrm>
            <a:off x="3581400" y="2565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F2329"/>
                </a:solidFill>
                <a:latin typeface="Aptos Display" panose="020B0004020202020204" pitchFamily="34" charset="0"/>
              </a:rPr>
              <a:t>Blueprint proof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A5DE97-FC95-FB41-E926-B12FEACAAD26}"/>
              </a:ext>
            </a:extLst>
          </p:cNvPr>
          <p:cNvSpPr txBox="1"/>
          <p:nvPr/>
        </p:nvSpPr>
        <p:spPr>
          <a:xfrm>
            <a:off x="3581400" y="3505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646C77"/>
                </a:solidFill>
                <a:latin typeface="Aptos" panose="020B0004020202020204" pitchFamily="34" charset="0"/>
              </a:rPr>
              <a:t>One application
GitHub evidence flow
Windows/Linux + removal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54B1238-4DDA-F382-24EF-F64868611E49}"/>
              </a:ext>
            </a:extLst>
          </p:cNvPr>
          <p:cNvSpPr/>
          <p:nvPr/>
        </p:nvSpPr>
        <p:spPr>
          <a:xfrm>
            <a:off x="6197600" y="1803400"/>
            <a:ext cx="2514600" cy="35560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04E66E-0B2A-4A21-0ED9-DB9FB3C7971B}"/>
              </a:ext>
            </a:extLst>
          </p:cNvPr>
          <p:cNvSpPr txBox="1"/>
          <p:nvPr/>
        </p:nvSpPr>
        <p:spPr>
          <a:xfrm>
            <a:off x="6400800" y="2057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CE4A2B"/>
                </a:solidFill>
                <a:latin typeface="Aptos" panose="020B0004020202020204" pitchFamily="34" charset="0"/>
              </a:rPr>
              <a:t>6-12 MONTHS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4234B5-C62D-CAE5-73A0-F326AD4A31B8}"/>
              </a:ext>
            </a:extLst>
          </p:cNvPr>
          <p:cNvSpPr txBox="1"/>
          <p:nvPr/>
        </p:nvSpPr>
        <p:spPr>
          <a:xfrm>
            <a:off x="6400800" y="2565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F2329"/>
                </a:solidFill>
                <a:latin typeface="Aptos Display" panose="020B0004020202020204" pitchFamily="34" charset="0"/>
              </a:rPr>
              <a:t>Platform pilot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AB74A2-C0E3-93A1-D9BA-7D1479491AA2}"/>
              </a:ext>
            </a:extLst>
          </p:cNvPr>
          <p:cNvSpPr txBox="1"/>
          <p:nvPr/>
        </p:nvSpPr>
        <p:spPr>
          <a:xfrm>
            <a:off x="6400800" y="3505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646C77"/>
                </a:solidFill>
                <a:latin typeface="Aptos" panose="020B0004020202020204" pitchFamily="34" charset="0"/>
              </a:rPr>
              <a:t>Multiple orgs
Read-only MCP
Copilot + Azure connectors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9BF7E31-0CA5-A201-7E0B-3AA9159D4971}"/>
              </a:ext>
            </a:extLst>
          </p:cNvPr>
          <p:cNvSpPr/>
          <p:nvPr/>
        </p:nvSpPr>
        <p:spPr>
          <a:xfrm>
            <a:off x="9017000" y="1803400"/>
            <a:ext cx="2514600" cy="35560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CECEA0-83D4-92A8-A719-C4BAA8F931D9}"/>
              </a:ext>
            </a:extLst>
          </p:cNvPr>
          <p:cNvSpPr txBox="1"/>
          <p:nvPr/>
        </p:nvSpPr>
        <p:spPr>
          <a:xfrm>
            <a:off x="9220200" y="2057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CE4A2B"/>
                </a:solidFill>
                <a:latin typeface="Aptos" panose="020B0004020202020204" pitchFamily="34" charset="0"/>
              </a:rPr>
              <a:t>12-24 MONTHS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95AF49-9428-1AFA-6E6F-3CDE25C916AA}"/>
              </a:ext>
            </a:extLst>
          </p:cNvPr>
          <p:cNvSpPr txBox="1"/>
          <p:nvPr/>
        </p:nvSpPr>
        <p:spPr>
          <a:xfrm>
            <a:off x="9220200" y="2565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F2329"/>
                </a:solidFill>
                <a:latin typeface="Aptos Display" panose="020B0004020202020204" pitchFamily="34" charset="0"/>
              </a:rPr>
              <a:t>Selective product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D98E87-8CEC-B59D-103E-67A21F249839}"/>
              </a:ext>
            </a:extLst>
          </p:cNvPr>
          <p:cNvSpPr txBox="1"/>
          <p:nvPr/>
        </p:nvSpPr>
        <p:spPr>
          <a:xfrm>
            <a:off x="9220200" y="3505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646C77"/>
                </a:solidFill>
                <a:latin typeface="Aptos" panose="020B0004020202020204" pitchFamily="34" charset="0"/>
              </a:rPr>
              <a:t>Supported capabilities
Renewable profiles
SLAs + outcomes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EABEC17-7F3E-C476-8E36-76897BDBDE70}"/>
              </a:ext>
            </a:extLst>
          </p:cNvPr>
          <p:cNvCxnSpPr/>
          <p:nvPr/>
        </p:nvCxnSpPr>
        <p:spPr>
          <a:xfrm>
            <a:off x="1117600" y="5765800"/>
            <a:ext cx="9956800" cy="0"/>
          </a:xfrm>
          <a:prstGeom prst="line">
            <a:avLst/>
          </a:prstGeom>
          <a:ln w="50800">
            <a:solidFill>
              <a:srgbClr val="CE4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BAD0CB6D-7C73-0B90-4AE0-369D31FA27D0}"/>
              </a:ext>
            </a:extLst>
          </p:cNvPr>
          <p:cNvSpPr/>
          <p:nvPr/>
        </p:nvSpPr>
        <p:spPr>
          <a:xfrm>
            <a:off x="1028700" y="5676900"/>
            <a:ext cx="177800" cy="177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915907D-B7BA-D6FC-0D38-51963B911CA7}"/>
              </a:ext>
            </a:extLst>
          </p:cNvPr>
          <p:cNvSpPr/>
          <p:nvPr/>
        </p:nvSpPr>
        <p:spPr>
          <a:xfrm>
            <a:off x="3848100" y="5676900"/>
            <a:ext cx="177800" cy="177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AD72CF4-1F34-8DC6-7CB0-AE0FDF0A363D}"/>
              </a:ext>
            </a:extLst>
          </p:cNvPr>
          <p:cNvSpPr/>
          <p:nvPr/>
        </p:nvSpPr>
        <p:spPr>
          <a:xfrm>
            <a:off x="6667500" y="5676900"/>
            <a:ext cx="177800" cy="177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F1C0C06-DBA0-5DFC-C4A7-490286B36E5E}"/>
              </a:ext>
            </a:extLst>
          </p:cNvPr>
          <p:cNvSpPr/>
          <p:nvPr/>
        </p:nvSpPr>
        <p:spPr>
          <a:xfrm>
            <a:off x="9486900" y="5676900"/>
            <a:ext cx="177800" cy="177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438D254-0E26-355A-4C99-0236385673EE}"/>
              </a:ext>
            </a:extLst>
          </p:cNvPr>
          <p:cNvSpPr/>
          <p:nvPr/>
        </p:nvSpPr>
        <p:spPr>
          <a:xfrm>
            <a:off x="10985500" y="5676900"/>
            <a:ext cx="177800" cy="177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0C3C47-CCD0-E145-86CA-E4A1A5329302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Stage gates: owner demand, measurable value, cross-platform proof, policy safety, adoption, rollback, and removal.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E32778-4C5C-B268-55B7-526A34BE6559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360277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76660B-0E70-3475-91D1-98C92C59F17D}"/>
              </a:ext>
            </a:extLst>
          </p:cNvPr>
          <p:cNvSpPr txBox="1"/>
          <p:nvPr/>
        </p:nvSpPr>
        <p:spPr>
          <a:xfrm>
            <a:off x="609600" y="406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D95F31"/>
                </a:solidFill>
                <a:latin typeface="Aptos" panose="020B0004020202020204" pitchFamily="34" charset="0"/>
              </a:rPr>
              <a:t>THE LEADERSHIP 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84CB13-55FC-5059-C7F1-35E31C594C79}"/>
              </a:ext>
            </a:extLst>
          </p:cNvPr>
          <p:cNvSpPr txBox="1"/>
          <p:nvPr/>
        </p:nvSpPr>
        <p:spPr>
          <a:xfrm>
            <a:off x="609600" y="8382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100" b="1">
                <a:solidFill>
                  <a:srgbClr val="FFFFFF"/>
                </a:solidFill>
                <a:latin typeface="Aptos Display" panose="020B0004020202020204" pitchFamily="34" charset="0"/>
              </a:rPr>
              <a:t>Sponsor the application strategy -- not another isolated Rust tool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EB3D25-7826-A6AB-778C-07C0D51C3101}"/>
              </a:ext>
            </a:extLst>
          </p:cNvPr>
          <p:cNvSpPr/>
          <p:nvPr/>
        </p:nvSpPr>
        <p:spPr>
          <a:xfrm>
            <a:off x="1219200" y="2019300"/>
            <a:ext cx="9652000" cy="5334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DBF4C1E-4EF7-4EBB-B68D-E9543115C216}"/>
              </a:ext>
            </a:extLst>
          </p:cNvPr>
          <p:cNvSpPr/>
          <p:nvPr/>
        </p:nvSpPr>
        <p:spPr>
          <a:xfrm>
            <a:off x="685800" y="2095500"/>
            <a:ext cx="406400" cy="4064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D38D88-5ED7-1B3E-A1B4-872EDD33D3D5}"/>
              </a:ext>
            </a:extLst>
          </p:cNvPr>
          <p:cNvSpPr txBox="1"/>
          <p:nvPr/>
        </p:nvSpPr>
        <p:spPr>
          <a:xfrm>
            <a:off x="825500" y="2197100"/>
            <a:ext cx="15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10212D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902CF-A5F8-C669-B670-07E5AD81AED5}"/>
              </a:ext>
            </a:extLst>
          </p:cNvPr>
          <p:cNvSpPr txBox="1"/>
          <p:nvPr/>
        </p:nvSpPr>
        <p:spPr>
          <a:xfrm>
            <a:off x="1473200" y="2146300"/>
            <a:ext cx="906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Aptos" panose="020B0004020202020204" pitchFamily="34" charset="0"/>
              </a:rPr>
              <a:t>Six-month cross-company proof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6ED4482-F778-7BE6-87F8-5960F025323B}"/>
              </a:ext>
            </a:extLst>
          </p:cNvPr>
          <p:cNvSpPr/>
          <p:nvPr/>
        </p:nvSpPr>
        <p:spPr>
          <a:xfrm>
            <a:off x="1219200" y="2755900"/>
            <a:ext cx="9652000" cy="5334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99F320-69AF-6F43-C018-BDAD85303AA5}"/>
              </a:ext>
            </a:extLst>
          </p:cNvPr>
          <p:cNvSpPr/>
          <p:nvPr/>
        </p:nvSpPr>
        <p:spPr>
          <a:xfrm>
            <a:off x="685800" y="2832100"/>
            <a:ext cx="406400" cy="4064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429B78-68A9-042E-8BE6-39DFBDE4C11F}"/>
              </a:ext>
            </a:extLst>
          </p:cNvPr>
          <p:cNvSpPr txBox="1"/>
          <p:nvPr/>
        </p:nvSpPr>
        <p:spPr>
          <a:xfrm>
            <a:off x="825500" y="2933700"/>
            <a:ext cx="15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10212D"/>
                </a:solidFill>
                <a:latin typeface="Aptos Display" panose="020B00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0A00-8FCC-F04D-1810-7F182D30B15A}"/>
              </a:ext>
            </a:extLst>
          </p:cNvPr>
          <p:cNvSpPr txBox="1"/>
          <p:nvPr/>
        </p:nvSpPr>
        <p:spPr>
          <a:xfrm>
            <a:off x="1473200" y="2882900"/>
            <a:ext cx="906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Aptos" panose="020B0004020202020204" pitchFamily="34" charset="0"/>
              </a:rPr>
              <a:t>One systems application + one GitHub/Copilot workflow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256595E-61AA-7478-6A45-C759F0763E37}"/>
              </a:ext>
            </a:extLst>
          </p:cNvPr>
          <p:cNvSpPr/>
          <p:nvPr/>
        </p:nvSpPr>
        <p:spPr>
          <a:xfrm>
            <a:off x="1219200" y="3492500"/>
            <a:ext cx="9652000" cy="5334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D5192A6-266D-6AF2-B7EC-C65A8358D9EA}"/>
              </a:ext>
            </a:extLst>
          </p:cNvPr>
          <p:cNvSpPr/>
          <p:nvPr/>
        </p:nvSpPr>
        <p:spPr>
          <a:xfrm>
            <a:off x="685800" y="3568700"/>
            <a:ext cx="406400" cy="4064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D26CF7-05E4-A5FB-0DF8-553B7A535216}"/>
              </a:ext>
            </a:extLst>
          </p:cNvPr>
          <p:cNvSpPr txBox="1"/>
          <p:nvPr/>
        </p:nvSpPr>
        <p:spPr>
          <a:xfrm>
            <a:off x="825500" y="3670300"/>
            <a:ext cx="15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10212D"/>
                </a:solidFill>
                <a:latin typeface="Aptos Display" panose="020B00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BE7459-ACF3-B287-7555-D1FF48999685}"/>
              </a:ext>
            </a:extLst>
          </p:cNvPr>
          <p:cNvSpPr txBox="1"/>
          <p:nvPr/>
        </p:nvSpPr>
        <p:spPr>
          <a:xfrm>
            <a:off x="1473200" y="3619500"/>
            <a:ext cx="906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Aptos" panose="020B0004020202020204" pitchFamily="34" charset="0"/>
              </a:rPr>
              <a:t>Privacy-safe Rust estate census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0D0DFDF-C7FF-73E0-3FA3-0CFB5BE3C338}"/>
              </a:ext>
            </a:extLst>
          </p:cNvPr>
          <p:cNvSpPr/>
          <p:nvPr/>
        </p:nvSpPr>
        <p:spPr>
          <a:xfrm>
            <a:off x="1219200" y="4229100"/>
            <a:ext cx="9652000" cy="5334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E458713-C53F-7602-C5D0-CFF1946377F9}"/>
              </a:ext>
            </a:extLst>
          </p:cNvPr>
          <p:cNvSpPr/>
          <p:nvPr/>
        </p:nvSpPr>
        <p:spPr>
          <a:xfrm>
            <a:off x="685800" y="4305300"/>
            <a:ext cx="406400" cy="4064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4605C-5706-0A96-A902-C4DB6AF4B5A6}"/>
              </a:ext>
            </a:extLst>
          </p:cNvPr>
          <p:cNvSpPr txBox="1"/>
          <p:nvPr/>
        </p:nvSpPr>
        <p:spPr>
          <a:xfrm>
            <a:off x="825500" y="4406900"/>
            <a:ext cx="15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10212D"/>
                </a:solidFill>
                <a:latin typeface="Aptos Display" panose="020B00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DDD650-5D7E-37C7-E10D-3E4040FBE3A2}"/>
              </a:ext>
            </a:extLst>
          </p:cNvPr>
          <p:cNvSpPr txBox="1"/>
          <p:nvPr/>
        </p:nvSpPr>
        <p:spPr>
          <a:xfrm>
            <a:off x="1473200" y="4356100"/>
            <a:ext cx="906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Aptos" panose="020B0004020202020204" pitchFamily="34" charset="0"/>
              </a:rPr>
              <a:t>Dedicated upstream liaison + maintainer funding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2FCA31B-EEB9-AAFB-1629-3C2048C53701}"/>
              </a:ext>
            </a:extLst>
          </p:cNvPr>
          <p:cNvSpPr/>
          <p:nvPr/>
        </p:nvSpPr>
        <p:spPr>
          <a:xfrm>
            <a:off x="1219200" y="4965700"/>
            <a:ext cx="9652000" cy="5334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EAB4FDD-5DF4-481F-6F92-64AC562E95A3}"/>
              </a:ext>
            </a:extLst>
          </p:cNvPr>
          <p:cNvSpPr/>
          <p:nvPr/>
        </p:nvSpPr>
        <p:spPr>
          <a:xfrm>
            <a:off x="685800" y="5041900"/>
            <a:ext cx="406400" cy="4064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A3DAC0-735B-7B36-34EF-92ABEA8FFF7D}"/>
              </a:ext>
            </a:extLst>
          </p:cNvPr>
          <p:cNvSpPr txBox="1"/>
          <p:nvPr/>
        </p:nvSpPr>
        <p:spPr>
          <a:xfrm>
            <a:off x="825500" y="5143500"/>
            <a:ext cx="15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10212D"/>
                </a:solidFill>
                <a:latin typeface="Aptos Display" panose="020B00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25B562-C736-3230-B22F-66AAD20C440F}"/>
              </a:ext>
            </a:extLst>
          </p:cNvPr>
          <p:cNvSpPr txBox="1"/>
          <p:nvPr/>
        </p:nvSpPr>
        <p:spPr>
          <a:xfrm>
            <a:off x="1473200" y="5092700"/>
            <a:ext cx="906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Aptos" panose="020B0004020202020204" pitchFamily="34" charset="0"/>
              </a:rPr>
              <a:t>Windows/Linux, renewal, rollback, and removal gates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EB4F2E0-3EC0-033F-C893-20B29941D6A6}"/>
              </a:ext>
            </a:extLst>
          </p:cNvPr>
          <p:cNvSpPr/>
          <p:nvPr/>
        </p:nvSpPr>
        <p:spPr>
          <a:xfrm>
            <a:off x="609600" y="5791200"/>
            <a:ext cx="10972800" cy="5080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DBD254-A3B3-4854-713E-F280446DA3EA}"/>
              </a:ext>
            </a:extLst>
          </p:cNvPr>
          <p:cNvSpPr txBox="1"/>
          <p:nvPr/>
        </p:nvSpPr>
        <p:spPr>
          <a:xfrm>
            <a:off x="889000" y="59309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 b="1">
                <a:solidFill>
                  <a:srgbClr val="52B8C8"/>
                </a:solidFill>
                <a:latin typeface="Aptos" panose="020B0004020202020204" pitchFamily="34" charset="0"/>
              </a:rPr>
              <a:t>Grab the moment: align the workspaces, crates, contracts, and applications before fragmentation hardens.</a:t>
            </a:r>
          </a:p>
        </p:txBody>
      </p:sp>
    </p:spTree>
    <p:extLst>
      <p:ext uri="{BB962C8B-B14F-4D97-AF65-F5344CB8AC3E}">
        <p14:creationId xmlns:p14="http://schemas.microsoft.com/office/powerpoint/2010/main" val="15215138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1082</Words>
  <Application>Microsoft Office PowerPoint</Application>
  <PresentationFormat>Custom</PresentationFormat>
  <Paragraphs>179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 Della-Libera</dc:creator>
  <cp:lastModifiedBy>Gio Della-Libera</cp:lastModifiedBy>
  <cp:revision>1</cp:revision>
  <dcterms:created xsi:type="dcterms:W3CDTF">2026-08-11T23:43:25Z</dcterms:created>
  <dcterms:modified xsi:type="dcterms:W3CDTF">2026-08-11T23:43:25Z</dcterms:modified>
</cp:coreProperties>
</file>