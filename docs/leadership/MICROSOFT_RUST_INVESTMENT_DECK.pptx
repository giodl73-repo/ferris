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12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4BF1D-5388-FB74-6F30-3921261206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61A21A-6F7E-CDDC-AB7B-B605258AC3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4E37C-37FE-FF7D-667E-517DC0A8D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2A7E0A-B2C2-79C9-0872-23583E763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87516-C392-0FE5-E4AA-10D67550F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093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1CE4D-3065-899C-2BE2-06C9C8100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13661-E3C1-3727-C08E-E66F0F587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29190-37F4-900F-DCBC-8D04D5525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12AFE-C667-47CD-2A9F-82E04EE05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753AC-5B8F-B355-866C-ECD4EDBBD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403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6CFB-4B2A-1E21-C724-F5DACCA4D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AA3D84-8A49-B0A5-38F6-91072D10F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2E8954-79D8-0534-6265-D8F90E06A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32549-B2F8-9C25-D08A-18118DE8D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F1016D-D143-AF64-D852-C3938C858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813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E0C1-F3C4-4BE8-60B1-A06EA492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AB636-9B48-1D60-7205-D80AD6B4AE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D426E-728E-4093-EB84-293882421E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CFB8E-69C8-2FF5-AF3C-172F5A2DE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807B01-6349-1428-39D7-0D99D8FA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706E6-A390-5B7A-65B5-D69AC864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99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AFA56-9056-1593-DF4B-587DCD9A1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3E48C-490A-318E-8248-6C7F6237BF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0157A6-4CA0-0F5D-4AEE-C68592092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3AFAC2-504D-E773-2213-4B210D1DB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38E3E6-D271-6096-F61A-53FB247169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DB853F-1CF1-E2AD-63A0-0B1444BDC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4AAB27-EDC7-33C3-FC19-31DFB5CCD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2B6103-C9FD-175A-D947-4678A7AF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074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5A5CE-B1C3-95E3-BF31-F153FF8D3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86EEB4-6B1F-6DE7-0781-94CE7ED91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56AE62-1C8F-6C08-C423-62AFE21E7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14686-634C-0862-53C7-B59D90278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765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FD5EA-3C25-19DA-1119-A7AA154DE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AB7DBE-BFE1-2DAF-1348-A568E7351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E733B0-977D-9635-B6B8-920CE37A6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021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0D5F4-220C-3D15-B00A-B7606510F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9363C-63C4-798F-163A-B9DB13520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54E12-D25A-C16D-CE00-4AECE589B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9EA75-A07F-260C-F3F3-5DE141A97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F50589-B611-EFDD-4758-F56263A39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2412D-7F0B-329D-2CE6-DB261ED8C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07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641DF-C152-8C68-6E2F-FA4B67BF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2AC9C6-D076-D535-66AE-1FDD64B1E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EE2466-46A1-E322-6645-C56E08117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85AFB-6CFB-E466-E88E-9A4593BE6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A24A1-C7CB-0012-CF6C-75F14E9A6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F62B7F-7E0A-3F1D-A3AC-DB16B41BB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40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7FBA-98A2-3E52-B1A8-6A7E26493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E615B-F59E-21FE-9CFB-5C2325182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B6732-A129-5DFA-F97A-EBD76B84E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0CAB2-FDA6-B34B-24E6-7A0FE6A3A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DB554-19CF-00F2-CF27-8A2396CDB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40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82619D-9C1D-3729-4315-25EA65CB0D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8AEBB4-E247-59BE-9358-ECFF25594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C676E-A570-A137-CE38-D01D89886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70EE54-2B92-CD78-8B2A-3272CD1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A9119-1212-AEAA-891D-A79AC496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132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54AC99-60FE-7AF2-35FD-60A48F26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17BF9-D898-CEBB-C21A-C8679A19D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23057-7E20-2E12-8A27-0B6CC325F7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959005-B26C-4F66-8525-6755711030AC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705AB-F51E-0AFF-8597-7E999D9437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5B3F8-02F2-1E26-D326-5CDC2E5C7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7D9784-4EBE-4E69-A4A0-9CB0C6271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390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2E3C812-D6A6-3AA1-909A-B5A47090920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29C471-5EEF-3182-F32E-78AD50910323}"/>
              </a:ext>
            </a:extLst>
          </p:cNvPr>
          <p:cNvSpPr/>
          <p:nvPr/>
        </p:nvSpPr>
        <p:spPr>
          <a:xfrm>
            <a:off x="8763000" y="-1143000"/>
            <a:ext cx="4191000" cy="41910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5AE7200-7385-1B3D-1E76-E235A2F58726}"/>
              </a:ext>
            </a:extLst>
          </p:cNvPr>
          <p:cNvSpPr/>
          <p:nvPr/>
        </p:nvSpPr>
        <p:spPr>
          <a:xfrm>
            <a:off x="9779000" y="508000"/>
            <a:ext cx="3175000" cy="31750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71802D7-17D6-476C-416E-136E1007A378}"/>
              </a:ext>
            </a:extLst>
          </p:cNvPr>
          <p:cNvSpPr/>
          <p:nvPr/>
        </p:nvSpPr>
        <p:spPr>
          <a:xfrm>
            <a:off x="8255000" y="2921000"/>
            <a:ext cx="4572000" cy="45720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37B9A5-8339-0E75-22ED-11613E30E3F0}"/>
              </a:ext>
            </a:extLst>
          </p:cNvPr>
          <p:cNvSpPr txBox="1"/>
          <p:nvPr/>
        </p:nvSpPr>
        <p:spPr>
          <a:xfrm>
            <a:off x="711200" y="685800"/>
            <a:ext cx="596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D95F31"/>
                </a:solidFill>
                <a:latin typeface="Aptos" panose="020B0004020202020204" pitchFamily="34" charset="0"/>
              </a:rPr>
              <a:t>MICROSOFT + RUST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11D57D-8F42-CC06-5D5E-E9B064DD0EDE}"/>
              </a:ext>
            </a:extLst>
          </p:cNvPr>
          <p:cNvSpPr txBox="1"/>
          <p:nvPr/>
        </p:nvSpPr>
        <p:spPr>
          <a:xfrm>
            <a:off x="711200" y="1346200"/>
            <a:ext cx="774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Aptos Display" panose="020B0004020202020204" pitchFamily="34" charset="0"/>
              </a:rPr>
              <a:t>Govern the conversion while the estate is still forming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42AB4-6D60-67B8-2245-8B6EDC38B843}"/>
              </a:ext>
            </a:extLst>
          </p:cNvPr>
          <p:cNvSpPr txBox="1"/>
          <p:nvPr/>
        </p:nvSpPr>
        <p:spPr>
          <a:xfrm>
            <a:off x="736600" y="3352800"/>
            <a:ext cx="723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E5E1D8"/>
                </a:solidFill>
                <a:latin typeface="Aptos" panose="020B0004020202020204" pitchFamily="34" charset="0"/>
              </a:rPr>
              <a:t>A portfolio strategy for application blueprints, compiler-grounded AI, Windows and Azure differentiation, and fair upstream stewardship.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8FBA8C-DC5C-02B1-2835-3B410514745C}"/>
              </a:ext>
            </a:extLst>
          </p:cNvPr>
          <p:cNvSpPr/>
          <p:nvPr/>
        </p:nvSpPr>
        <p:spPr>
          <a:xfrm>
            <a:off x="736600" y="4851400"/>
            <a:ext cx="3860800" cy="3302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4C61AD-441B-9CA1-47B4-CDD50F7281EC}"/>
              </a:ext>
            </a:extLst>
          </p:cNvPr>
          <p:cNvSpPr txBox="1"/>
          <p:nvPr/>
        </p:nvSpPr>
        <p:spPr>
          <a:xfrm>
            <a:off x="863600" y="4927600"/>
            <a:ext cx="360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Aptos" panose="020B0004020202020204" pitchFamily="34" charset="0"/>
              </a:rPr>
              <a:t>Leadership discussion draft | 19 Aug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C6AFB2-B764-AB8C-9FB1-115144A47DD1}"/>
              </a:ext>
            </a:extLst>
          </p:cNvPr>
          <p:cNvSpPr txBox="1"/>
          <p:nvPr/>
        </p:nvSpPr>
        <p:spPr>
          <a:xfrm>
            <a:off x="736600" y="5918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52B8C8"/>
                </a:solidFill>
                <a:latin typeface="Aptos" panose="020B0004020202020204" pitchFamily="34" charset="0"/>
              </a:rPr>
              <a:t>FERRIS</a:t>
            </a:r>
          </a:p>
        </p:txBody>
      </p:sp>
    </p:spTree>
    <p:extLst>
      <p:ext uri="{BB962C8B-B14F-4D97-AF65-F5344CB8AC3E}">
        <p14:creationId xmlns:p14="http://schemas.microsoft.com/office/powerpoint/2010/main" val="3587928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95EB8C-4AFE-9DFB-147E-DF9CA6C5BB82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THE MOMENT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531CA-48CC-5670-961D-9AAB1AD922F7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Rust has crossed from developer preference to platform strategy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3C1081C-0CD4-18F2-0056-5DBCE836655E}"/>
              </a:ext>
            </a:extLst>
          </p:cNvPr>
          <p:cNvSpPr/>
          <p:nvPr/>
        </p:nvSpPr>
        <p:spPr>
          <a:xfrm>
            <a:off x="5588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98B17B-3C05-4051-019F-F41B8C9EBBF6}"/>
              </a:ext>
            </a:extLst>
          </p:cNvPr>
          <p:cNvSpPr txBox="1"/>
          <p:nvPr/>
        </p:nvSpPr>
        <p:spPr>
          <a:xfrm>
            <a:off x="7874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83%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1E488-BEBE-976F-BEF2-1422C84E9F5B}"/>
              </a:ext>
            </a:extLst>
          </p:cNvPr>
          <p:cNvSpPr txBox="1"/>
          <p:nvPr/>
        </p:nvSpPr>
        <p:spPr>
          <a:xfrm>
            <a:off x="7874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admired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2D3898-93FA-9AE0-3970-047020F14E5F}"/>
              </a:ext>
            </a:extLst>
          </p:cNvPr>
          <p:cNvSpPr txBox="1"/>
          <p:nvPr/>
        </p:nvSpPr>
        <p:spPr>
          <a:xfrm>
            <a:off x="7874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Stack Overflow 2024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0817436-92F8-CA1C-7319-9C0FE156602A}"/>
              </a:ext>
            </a:extLst>
          </p:cNvPr>
          <p:cNvSpPr/>
          <p:nvPr/>
        </p:nvSpPr>
        <p:spPr>
          <a:xfrm>
            <a:off x="33782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177AE2-B284-8CC2-3FE4-6A03F08B1A7D}"/>
              </a:ext>
            </a:extLst>
          </p:cNvPr>
          <p:cNvSpPr txBox="1"/>
          <p:nvPr/>
        </p:nvSpPr>
        <p:spPr>
          <a:xfrm>
            <a:off x="36068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48.8%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A1872-FCD7-FDF0-7B69-B87FDA82EDBC}"/>
              </a:ext>
            </a:extLst>
          </p:cNvPr>
          <p:cNvSpPr txBox="1"/>
          <p:nvPr/>
        </p:nvSpPr>
        <p:spPr>
          <a:xfrm>
            <a:off x="36068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organizational use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9F3A38-A9F8-F406-A889-49E17760B9AA}"/>
              </a:ext>
            </a:extLst>
          </p:cNvPr>
          <p:cNvSpPr txBox="1"/>
          <p:nvPr/>
        </p:nvSpPr>
        <p:spPr>
          <a:xfrm>
            <a:off x="36068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non-trivial use, Rust survey 2025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B639555-80D4-7466-69B8-354C0AB1B89A}"/>
              </a:ext>
            </a:extLst>
          </p:cNvPr>
          <p:cNvSpPr/>
          <p:nvPr/>
        </p:nvSpPr>
        <p:spPr>
          <a:xfrm>
            <a:off x="61976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1182C1-BC58-5E0F-DFFF-1125842E7971}"/>
              </a:ext>
            </a:extLst>
          </p:cNvPr>
          <p:cNvSpPr txBox="1"/>
          <p:nvPr/>
        </p:nvSpPr>
        <p:spPr>
          <a:xfrm>
            <a:off x="64262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315K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02F391-C6E8-6A66-3FB1-F7F6F1080C8C}"/>
              </a:ext>
            </a:extLst>
          </p:cNvPr>
          <p:cNvSpPr txBox="1"/>
          <p:nvPr/>
        </p:nvSpPr>
        <p:spPr>
          <a:xfrm>
            <a:off x="64262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published crates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EB5F54-E7F9-AE1D-47BF-D8B56D24064A}"/>
              </a:ext>
            </a:extLst>
          </p:cNvPr>
          <p:cNvSpPr txBox="1"/>
          <p:nvPr/>
        </p:nvSpPr>
        <p:spPr>
          <a:xfrm>
            <a:off x="64262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crates.io, 11 Aug 2026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2D54355-760F-7F9E-C127-DD883E3C2034}"/>
              </a:ext>
            </a:extLst>
          </p:cNvPr>
          <p:cNvSpPr/>
          <p:nvPr/>
        </p:nvSpPr>
        <p:spPr>
          <a:xfrm>
            <a:off x="9017000" y="1676400"/>
            <a:ext cx="2514600" cy="1803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E378B3-7430-C311-290A-C4AB304938F5}"/>
              </a:ext>
            </a:extLst>
          </p:cNvPr>
          <p:cNvSpPr txBox="1"/>
          <p:nvPr/>
        </p:nvSpPr>
        <p:spPr>
          <a:xfrm>
            <a:off x="9245600" y="19050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400" b="1">
                <a:solidFill>
                  <a:srgbClr val="CE4A2B"/>
                </a:solidFill>
                <a:latin typeface="Aptos Display" panose="020B0004020202020204" pitchFamily="34" charset="0"/>
              </a:rPr>
              <a:t>395B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C5C184-00D7-CA0F-2DCB-7A7BA74CAAF8}"/>
              </a:ext>
            </a:extLst>
          </p:cNvPr>
          <p:cNvSpPr txBox="1"/>
          <p:nvPr/>
        </p:nvSpPr>
        <p:spPr>
          <a:xfrm>
            <a:off x="9245600" y="26289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F2329"/>
                </a:solidFill>
                <a:latin typeface="Aptos" panose="020B0004020202020204" pitchFamily="34" charset="0"/>
              </a:rPr>
              <a:t>downloads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790E1-FDB2-4409-32FF-54E8C17B4773}"/>
              </a:ext>
            </a:extLst>
          </p:cNvPr>
          <p:cNvSpPr txBox="1"/>
          <p:nvPr/>
        </p:nvSpPr>
        <p:spPr>
          <a:xfrm>
            <a:off x="9245600" y="29845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646C77"/>
                </a:solidFill>
                <a:latin typeface="Aptos" panose="020B0004020202020204" pitchFamily="34" charset="0"/>
              </a:rPr>
              <a:t>cumulative crates.io downloads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23F1E06-307C-8B57-D244-50621C80BC98}"/>
              </a:ext>
            </a:extLst>
          </p:cNvPr>
          <p:cNvSpPr/>
          <p:nvPr/>
        </p:nvSpPr>
        <p:spPr>
          <a:xfrm>
            <a:off x="558800" y="3987800"/>
            <a:ext cx="11074400" cy="18542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2A27CC-9A22-9DE3-D2AA-BC9306279BD1}"/>
              </a:ext>
            </a:extLst>
          </p:cNvPr>
          <p:cNvSpPr txBox="1"/>
          <p:nvPr/>
        </p:nvSpPr>
        <p:spPr>
          <a:xfrm>
            <a:off x="838200" y="42799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D95F31"/>
                </a:solidFill>
                <a:latin typeface="Aptos" panose="020B0004020202020204" pitchFamily="34" charset="0"/>
              </a:rPr>
              <a:t>The strategic shift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0875D3-E3DB-654E-9DAF-2A9A0BC357DF}"/>
              </a:ext>
            </a:extLst>
          </p:cNvPr>
          <p:cNvSpPr txBox="1"/>
          <p:nvPr/>
        </p:nvSpPr>
        <p:spPr>
          <a:xfrm>
            <a:off x="838200" y="4749800"/>
            <a:ext cx="990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 Display" panose="020B0004020202020204" pitchFamily="34" charset="0"/>
              </a:rPr>
              <a:t>Rust is no longer a bet on language popularity. It is becoming a durable systems, cloud, security, and application-platform capability.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9C892E-D3DD-8822-1E47-DB70F1B2C3FC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Sources: Stack Overflow 2024; State of Rust 2025; crates.io public API (observed 2026-08-11).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411895-AE5D-E89A-9813-821F62338B8E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4473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485A25-AE8A-4302-79FB-85D62AB705A1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SECURITY ECONOMICS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DECB7E-7105-1B9A-636F-FF231A16E6F4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The conversion case is strongest when it is incremental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44856F-D222-5AD5-947A-63925525642A}"/>
              </a:ext>
            </a:extLst>
          </p:cNvPr>
          <p:cNvSpPr txBox="1"/>
          <p:nvPr/>
        </p:nvSpPr>
        <p:spPr>
          <a:xfrm>
            <a:off x="660400" y="1676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F2329"/>
                </a:solidFill>
                <a:latin typeface="Aptos" panose="020B0004020202020204" pitchFamily="34" charset="0"/>
              </a:rPr>
              <a:t>Android memory-safety vulnerabilities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51B60-13B4-80FC-7C83-19D44C77A478}"/>
              </a:ext>
            </a:extLst>
          </p:cNvPr>
          <p:cNvSpPr/>
          <p:nvPr/>
        </p:nvSpPr>
        <p:spPr>
          <a:xfrm>
            <a:off x="660400" y="2260600"/>
            <a:ext cx="4699000" cy="685800"/>
          </a:xfrm>
          <a:prstGeom prst="roundRect">
            <a:avLst/>
          </a:prstGeom>
          <a:solidFill>
            <a:srgbClr val="C5CED8"/>
          </a:solidFill>
          <a:ln w="19050" cap="flat" cmpd="sng" algn="ctr">
            <a:solidFill>
              <a:srgbClr val="C5CED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16B6DE-E725-8985-B35D-005809F69E37}"/>
              </a:ext>
            </a:extLst>
          </p:cNvPr>
          <p:cNvSpPr/>
          <p:nvPr/>
        </p:nvSpPr>
        <p:spPr>
          <a:xfrm>
            <a:off x="660400" y="2260600"/>
            <a:ext cx="3568700" cy="685800"/>
          </a:xfrm>
          <a:prstGeom prst="roundRect">
            <a:avLst/>
          </a:prstGeom>
          <a:solidFill>
            <a:srgbClr val="CE4A2B"/>
          </a:solidFill>
          <a:ln w="19050" cap="flat" cmpd="sng" algn="ctr">
            <a:solidFill>
              <a:srgbClr val="CE4A2B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871C16-DCDF-86BF-7492-0B0B10FC9A45}"/>
              </a:ext>
            </a:extLst>
          </p:cNvPr>
          <p:cNvSpPr txBox="1"/>
          <p:nvPr/>
        </p:nvSpPr>
        <p:spPr>
          <a:xfrm>
            <a:off x="838200" y="23876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Aptos Display" panose="020B0004020202020204" pitchFamily="34" charset="0"/>
              </a:rPr>
              <a:t>76%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A41DB4-2C62-BF03-550B-95EA1F37B341}"/>
              </a:ext>
            </a:extLst>
          </p:cNvPr>
          <p:cNvSpPr txBox="1"/>
          <p:nvPr/>
        </p:nvSpPr>
        <p:spPr>
          <a:xfrm>
            <a:off x="4318000" y="2489200"/>
            <a:ext cx="93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 b="1">
                <a:solidFill>
                  <a:srgbClr val="646C77"/>
                </a:solidFill>
                <a:latin typeface="Aptos" panose="020B0004020202020204" pitchFamily="34" charset="0"/>
              </a:rPr>
              <a:t>six years earlier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039DBD-30B4-0D84-CC16-65A45B8F2BC1}"/>
              </a:ext>
            </a:extLst>
          </p:cNvPr>
          <p:cNvSpPr/>
          <p:nvPr/>
        </p:nvSpPr>
        <p:spPr>
          <a:xfrm>
            <a:off x="660400" y="3327400"/>
            <a:ext cx="4699000" cy="685800"/>
          </a:xfrm>
          <a:prstGeom prst="roundRect">
            <a:avLst/>
          </a:prstGeom>
          <a:solidFill>
            <a:srgbClr val="C5CED8"/>
          </a:solidFill>
          <a:ln w="19050" cap="flat" cmpd="sng" algn="ctr">
            <a:solidFill>
              <a:srgbClr val="C5CED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2EB0857-067F-71E6-6267-1F01BB06A82D}"/>
              </a:ext>
            </a:extLst>
          </p:cNvPr>
          <p:cNvSpPr/>
          <p:nvPr/>
        </p:nvSpPr>
        <p:spPr>
          <a:xfrm>
            <a:off x="660400" y="3327400"/>
            <a:ext cx="1130300" cy="685800"/>
          </a:xfrm>
          <a:prstGeom prst="roundRect">
            <a:avLst/>
          </a:prstGeom>
          <a:solidFill>
            <a:srgbClr val="52B8C8"/>
          </a:solidFill>
          <a:ln w="19050" cap="flat" cmpd="sng" algn="ctr">
            <a:solidFill>
              <a:srgbClr val="52B8C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D2E663-95CA-2C39-F3D0-7EC022154120}"/>
              </a:ext>
            </a:extLst>
          </p:cNvPr>
          <p:cNvSpPr txBox="1"/>
          <p:nvPr/>
        </p:nvSpPr>
        <p:spPr>
          <a:xfrm>
            <a:off x="838200" y="34544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0212D"/>
                </a:solidFill>
                <a:latin typeface="Aptos Display" panose="020B0004020202020204" pitchFamily="34" charset="0"/>
              </a:rPr>
              <a:t>24%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684D0F-F47B-00B2-7D4E-682599BEBAD1}"/>
              </a:ext>
            </a:extLst>
          </p:cNvPr>
          <p:cNvSpPr txBox="1"/>
          <p:nvPr/>
        </p:nvSpPr>
        <p:spPr>
          <a:xfrm>
            <a:off x="4318000" y="3556000"/>
            <a:ext cx="93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 b="1">
                <a:solidFill>
                  <a:srgbClr val="646C77"/>
                </a:solidFill>
                <a:latin typeface="Aptos" panose="020B0004020202020204" pitchFamily="34" charset="0"/>
              </a:rPr>
              <a:t>2024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7FB932F-A7C8-1AE8-8312-1DA3F23AEA72}"/>
              </a:ext>
            </a:extLst>
          </p:cNvPr>
          <p:cNvSpPr/>
          <p:nvPr/>
        </p:nvSpPr>
        <p:spPr>
          <a:xfrm>
            <a:off x="6172200" y="1727200"/>
            <a:ext cx="5181600" cy="228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4842B5-6FFE-2FE4-C548-5A3210E00DAC}"/>
              </a:ext>
            </a:extLst>
          </p:cNvPr>
          <p:cNvSpPr/>
          <p:nvPr/>
        </p:nvSpPr>
        <p:spPr>
          <a:xfrm>
            <a:off x="6172200" y="1727200"/>
            <a:ext cx="101600" cy="2286000"/>
          </a:xfrm>
          <a:prstGeom prst="rect">
            <a:avLst/>
          </a:prstGeom>
          <a:solidFill>
            <a:srgbClr val="52B8C8"/>
          </a:solidFill>
          <a:ln w="19050" cap="flat" cmpd="sng" algn="ctr">
            <a:solidFill>
              <a:srgbClr val="52B8C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AAE4E-4F99-CEB5-D150-E310D0BF5A82}"/>
              </a:ext>
            </a:extLst>
          </p:cNvPr>
          <p:cNvSpPr txBox="1"/>
          <p:nvPr/>
        </p:nvSpPr>
        <p:spPr>
          <a:xfrm>
            <a:off x="6451600" y="19304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Interoperability is the new rewrite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2B0E86-4954-AA96-6239-0EB8C96D764E}"/>
              </a:ext>
            </a:extLst>
          </p:cNvPr>
          <p:cNvSpPr txBox="1"/>
          <p:nvPr/>
        </p:nvSpPr>
        <p:spPr>
          <a:xfrm>
            <a:off x="6451600" y="23876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Prioritize memory-safe languages for new and actively changing code. Keep mature assets where rewrite economics are weak. Make boundaries safe, explicit, testable, and removable.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CA1D01E-DE67-A403-F8C2-2FA0A93E8F5F}"/>
              </a:ext>
            </a:extLst>
          </p:cNvPr>
          <p:cNvSpPr/>
          <p:nvPr/>
        </p:nvSpPr>
        <p:spPr>
          <a:xfrm>
            <a:off x="6172200" y="4292600"/>
            <a:ext cx="5181600" cy="15748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5127323-F2BB-EB46-1622-AD8643BA5591}"/>
              </a:ext>
            </a:extLst>
          </p:cNvPr>
          <p:cNvSpPr/>
          <p:nvPr/>
        </p:nvSpPr>
        <p:spPr>
          <a:xfrm>
            <a:off x="6172200" y="4292600"/>
            <a:ext cx="101600" cy="1574800"/>
          </a:xfrm>
          <a:prstGeom prst="rect">
            <a:avLst/>
          </a:prstGeom>
          <a:solidFill>
            <a:srgbClr val="D95F31"/>
          </a:solidFill>
          <a:ln w="19050" cap="flat" cmpd="sng" algn="ctr">
            <a:solidFill>
              <a:srgbClr val="D95F31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3D05B5-0D40-824B-DF05-069F8EADE14A}"/>
              </a:ext>
            </a:extLst>
          </p:cNvPr>
          <p:cNvSpPr txBox="1"/>
          <p:nvPr/>
        </p:nvSpPr>
        <p:spPr>
          <a:xfrm>
            <a:off x="6451600" y="44958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A second operational signal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6DA808-0689-5FB3-636F-CC563F430659}"/>
              </a:ext>
            </a:extLst>
          </p:cNvPr>
          <p:cNvSpPr txBox="1"/>
          <p:nvPr/>
        </p:nvSpPr>
        <p:spPr>
          <a:xfrm>
            <a:off x="6451600" y="4953000"/>
            <a:ext cx="469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Google reports the rollback rate of Rust changes at less than half the rate of C++ changes -- evidence that safety can improve developer operations, not only vulnerability counts.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19D07C-4A59-2535-93B5-E0F496C3B5B9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Source: Google Security Blog, "Eliminating Memory Safety Vulnerabilities at the Source," 25 Sep 2024.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E20527-C986-FDC1-2617-662CEA33709F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85798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5CBB22-F964-5406-A465-68834EF7E849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MICROSOFT SIGNALS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77F4B7-F795-C285-4B3F-AB1E9512A2BF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Microsoft is already moving -- coordination is the missing layer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9DBAB4B-F75A-9121-F106-B702108A8C2B}"/>
              </a:ext>
            </a:extLst>
          </p:cNvPr>
          <p:cNvSpPr/>
          <p:nvPr/>
        </p:nvSpPr>
        <p:spPr>
          <a:xfrm>
            <a:off x="660400" y="1600200"/>
            <a:ext cx="558800" cy="5588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F63B9-7076-F9E5-2623-77549852E5B7}"/>
              </a:ext>
            </a:extLst>
          </p:cNvPr>
          <p:cNvSpPr txBox="1"/>
          <p:nvPr/>
        </p:nvSpPr>
        <p:spPr>
          <a:xfrm>
            <a:off x="825500" y="17145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6BFFF5-C563-51B2-8E23-436F1F198CD3}"/>
              </a:ext>
            </a:extLst>
          </p:cNvPr>
          <p:cNvSpPr txBox="1"/>
          <p:nvPr/>
        </p:nvSpPr>
        <p:spPr>
          <a:xfrm>
            <a:off x="1473200" y="15875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AZURE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017FF8-9136-82F6-F506-F3FD1B0FEB09}"/>
              </a:ext>
            </a:extLst>
          </p:cNvPr>
          <p:cNvSpPr txBox="1"/>
          <p:nvPr/>
        </p:nvSpPr>
        <p:spPr>
          <a:xfrm>
            <a:off x="1473200" y="19304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Rust adopted in critical infrastructure; Microsoft expects adoption to expand substantially.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1E3A8-0237-A87F-AF76-DADE60F4DC0D}"/>
              </a:ext>
            </a:extLst>
          </p:cNvPr>
          <p:cNvCxnSpPr/>
          <p:nvPr/>
        </p:nvCxnSpPr>
        <p:spPr>
          <a:xfrm>
            <a:off x="1473200" y="2501900"/>
            <a:ext cx="9906000" cy="0"/>
          </a:xfrm>
          <a:prstGeom prst="line">
            <a:avLst/>
          </a:prstGeom>
          <a:ln w="12700">
            <a:solidFill>
              <a:srgbClr val="C5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D9ADD919-0D74-703C-F53F-673A4E4546D7}"/>
              </a:ext>
            </a:extLst>
          </p:cNvPr>
          <p:cNvSpPr/>
          <p:nvPr/>
        </p:nvSpPr>
        <p:spPr>
          <a:xfrm>
            <a:off x="660400" y="2692400"/>
            <a:ext cx="558800" cy="558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CBC2D6-E4AE-E455-C366-69888854590A}"/>
              </a:ext>
            </a:extLst>
          </p:cNvPr>
          <p:cNvSpPr txBox="1"/>
          <p:nvPr/>
        </p:nvSpPr>
        <p:spPr>
          <a:xfrm>
            <a:off x="825500" y="28067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0212D"/>
                </a:solidFill>
                <a:latin typeface="Aptos Display" panose="020B00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E2EFD4-2E41-1451-40BB-D357784966CE}"/>
              </a:ext>
            </a:extLst>
          </p:cNvPr>
          <p:cNvSpPr txBox="1"/>
          <p:nvPr/>
        </p:nvSpPr>
        <p:spPr>
          <a:xfrm>
            <a:off x="1473200" y="26797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SDK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12A890-A398-1664-A817-68191E341633}"/>
              </a:ext>
            </a:extLst>
          </p:cNvPr>
          <p:cNvSpPr txBox="1"/>
          <p:nvPr/>
        </p:nvSpPr>
        <p:spPr>
          <a:xfrm>
            <a:off x="1473200" y="30226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Stable Azure SDK for Rust: core, identity, Key Vault, and Storage with SemVer guarantees.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B4B1BE6-978E-82FA-A246-3FF4FA7E975C}"/>
              </a:ext>
            </a:extLst>
          </p:cNvPr>
          <p:cNvCxnSpPr/>
          <p:nvPr/>
        </p:nvCxnSpPr>
        <p:spPr>
          <a:xfrm>
            <a:off x="1473200" y="3594100"/>
            <a:ext cx="9906000" cy="0"/>
          </a:xfrm>
          <a:prstGeom prst="line">
            <a:avLst/>
          </a:prstGeom>
          <a:ln w="12700">
            <a:solidFill>
              <a:srgbClr val="C5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226CA27C-AEBF-F7C5-D301-F8953CB84219}"/>
              </a:ext>
            </a:extLst>
          </p:cNvPr>
          <p:cNvSpPr/>
          <p:nvPr/>
        </p:nvSpPr>
        <p:spPr>
          <a:xfrm>
            <a:off x="660400" y="3784600"/>
            <a:ext cx="558800" cy="5588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E1E47D-45C6-C168-D726-EDAC4BF4E93B}"/>
              </a:ext>
            </a:extLst>
          </p:cNvPr>
          <p:cNvSpPr txBox="1"/>
          <p:nvPr/>
        </p:nvSpPr>
        <p:spPr>
          <a:xfrm>
            <a:off x="825500" y="38989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 Display" panose="020B0004020202020204" pitchFamily="34" charset="0"/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07523-2A4F-C7D2-393B-DFCE9ED8F4CE}"/>
              </a:ext>
            </a:extLst>
          </p:cNvPr>
          <p:cNvSpPr txBox="1"/>
          <p:nvPr/>
        </p:nvSpPr>
        <p:spPr>
          <a:xfrm>
            <a:off x="1473200" y="3771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SYSTEMS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AFD9CC-A062-AC49-1509-00C20B696836}"/>
              </a:ext>
            </a:extLst>
          </p:cNvPr>
          <p:cNvSpPr txBox="1"/>
          <p:nvPr/>
        </p:nvSpPr>
        <p:spPr>
          <a:xfrm>
            <a:off x="1473200" y="41148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OpenVMM is a modular, cross-platform VMM written in Rust.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BCB3DA7-E588-3980-1FD4-C5282C3EA2DE}"/>
              </a:ext>
            </a:extLst>
          </p:cNvPr>
          <p:cNvCxnSpPr/>
          <p:nvPr/>
        </p:nvCxnSpPr>
        <p:spPr>
          <a:xfrm>
            <a:off x="1473200" y="4686300"/>
            <a:ext cx="9906000" cy="0"/>
          </a:xfrm>
          <a:prstGeom prst="line">
            <a:avLst/>
          </a:prstGeom>
          <a:ln w="12700">
            <a:solidFill>
              <a:srgbClr val="C5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012C198E-55A1-2B10-96E9-477D6A788965}"/>
              </a:ext>
            </a:extLst>
          </p:cNvPr>
          <p:cNvSpPr/>
          <p:nvPr/>
        </p:nvSpPr>
        <p:spPr>
          <a:xfrm>
            <a:off x="660400" y="4876800"/>
            <a:ext cx="558800" cy="558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ACE7FE-D60C-56DD-FA6C-D876A05CDEE9}"/>
              </a:ext>
            </a:extLst>
          </p:cNvPr>
          <p:cNvSpPr txBox="1"/>
          <p:nvPr/>
        </p:nvSpPr>
        <p:spPr>
          <a:xfrm>
            <a:off x="825500" y="4991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0212D"/>
                </a:solidFill>
                <a:latin typeface="Aptos Display" panose="020B0004020202020204" pitchFamily="34" charset="0"/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A14C18-C0BD-EDBD-EA56-AF397EB989AA}"/>
              </a:ext>
            </a:extLst>
          </p:cNvPr>
          <p:cNvSpPr txBox="1"/>
          <p:nvPr/>
        </p:nvSpPr>
        <p:spPr>
          <a:xfrm>
            <a:off x="1473200" y="48641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CE4A2B"/>
                </a:solidFill>
                <a:latin typeface="Aptos" panose="020B0004020202020204" pitchFamily="34" charset="0"/>
              </a:rPr>
              <a:t>FOUNDATION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45FF49-6C24-45AE-025B-68C3181DA9CA}"/>
              </a:ext>
            </a:extLst>
          </p:cNvPr>
          <p:cNvSpPr txBox="1"/>
          <p:nvPr/>
        </p:nvSpPr>
        <p:spPr>
          <a:xfrm>
            <a:off x="1473200" y="52070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Founding Platinum member since January 2021; an established channel for fair investment.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CC90A7-721C-448D-BF97-CC169F458306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Sources: Microsoft Azure Security; Azure SDK Blog; github.com/microsoft/openvmm; Rust Foundation members.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07A3C7-051F-BBFC-79BA-85BFF2F760B2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32824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C103EA-5825-C573-A08B-54D58802AF6E}"/>
              </a:ext>
            </a:extLst>
          </p:cNvPr>
          <p:cNvSpPr txBox="1"/>
          <p:nvPr/>
        </p:nvSpPr>
        <p:spPr>
          <a:xfrm>
            <a:off x="558800" y="355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D95F31"/>
                </a:solidFill>
                <a:latin typeface="Aptos" panose="020B0004020202020204" pitchFamily="34" charset="0"/>
              </a:rPr>
              <a:t>THE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64D5E0-C65F-8517-38E3-E8536E052842}"/>
              </a:ext>
            </a:extLst>
          </p:cNvPr>
          <p:cNvSpPr txBox="1"/>
          <p:nvPr/>
        </p:nvSpPr>
        <p:spPr>
          <a:xfrm>
            <a:off x="558800" y="736600"/>
            <a:ext cx="1003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ptos Display" panose="020B0004020202020204" pitchFamily="34" charset="0"/>
              </a:rPr>
              <a:t>Uncoordinated success becomes the next platform debt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F77A99-E2A1-7B51-BE75-D61A510671A2}"/>
              </a:ext>
            </a:extLst>
          </p:cNvPr>
          <p:cNvSpPr/>
          <p:nvPr/>
        </p:nvSpPr>
        <p:spPr>
          <a:xfrm>
            <a:off x="558800" y="1752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0D6033-347A-51E6-A818-A12BE2D3DD34}"/>
              </a:ext>
            </a:extLst>
          </p:cNvPr>
          <p:cNvSpPr txBox="1"/>
          <p:nvPr/>
        </p:nvSpPr>
        <p:spPr>
          <a:xfrm>
            <a:off x="787400" y="1981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Crate divergence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6622D-6BE3-BD51-DBFE-02DC02E46609}"/>
              </a:ext>
            </a:extLst>
          </p:cNvPr>
          <p:cNvSpPr txBox="1"/>
          <p:nvPr/>
        </p:nvSpPr>
        <p:spPr>
          <a:xfrm>
            <a:off x="787400" y="2413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Different stacks and providers for one capability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D59C664-0544-779A-2598-2EA33AE0266C}"/>
              </a:ext>
            </a:extLst>
          </p:cNvPr>
          <p:cNvSpPr/>
          <p:nvPr/>
        </p:nvSpPr>
        <p:spPr>
          <a:xfrm>
            <a:off x="4318000" y="1752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FC2387-9860-AC4A-34C1-07ADB2889E37}"/>
              </a:ext>
            </a:extLst>
          </p:cNvPr>
          <p:cNvSpPr txBox="1"/>
          <p:nvPr/>
        </p:nvSpPr>
        <p:spPr>
          <a:xfrm>
            <a:off x="4546600" y="1981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Boundary drift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EFC6E7-18B3-CC51-0B44-43146A4B35B0}"/>
              </a:ext>
            </a:extLst>
          </p:cNvPr>
          <p:cNvSpPr txBox="1"/>
          <p:nvPr/>
        </p:nvSpPr>
        <p:spPr>
          <a:xfrm>
            <a:off x="4546600" y="2413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Ad hoc C++, C ABI, WIT, generated, and service contracts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022BDF-D07F-CED3-1CEF-7D81ADDF6B45}"/>
              </a:ext>
            </a:extLst>
          </p:cNvPr>
          <p:cNvSpPr/>
          <p:nvPr/>
        </p:nvSpPr>
        <p:spPr>
          <a:xfrm>
            <a:off x="8077200" y="1752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C3F782-0596-C6C3-E5CB-9CE6906676DA}"/>
              </a:ext>
            </a:extLst>
          </p:cNvPr>
          <p:cNvSpPr txBox="1"/>
          <p:nvPr/>
        </p:nvSpPr>
        <p:spPr>
          <a:xfrm>
            <a:off x="8305800" y="1981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Support ambiguity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B25829-8683-ACAB-0655-F532232A022D}"/>
              </a:ext>
            </a:extLst>
          </p:cNvPr>
          <p:cNvSpPr txBox="1"/>
          <p:nvPr/>
        </p:nvSpPr>
        <p:spPr>
          <a:xfrm>
            <a:off x="8305800" y="2413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Versions, targets, owners, and renewal dates disappear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5F152B-B250-48D6-9913-EB2FA891ED5A}"/>
              </a:ext>
            </a:extLst>
          </p:cNvPr>
          <p:cNvSpPr/>
          <p:nvPr/>
        </p:nvSpPr>
        <p:spPr>
          <a:xfrm>
            <a:off x="558800" y="3657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53AACB-1B9C-30F8-EAB9-65C1004A9786}"/>
              </a:ext>
            </a:extLst>
          </p:cNvPr>
          <p:cNvSpPr txBox="1"/>
          <p:nvPr/>
        </p:nvSpPr>
        <p:spPr>
          <a:xfrm>
            <a:off x="787400" y="3886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AI without context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64AA31-C1E2-DBCF-7F4B-2748DDD9472F}"/>
              </a:ext>
            </a:extLst>
          </p:cNvPr>
          <p:cNvSpPr txBox="1"/>
          <p:nvPr/>
        </p:nvSpPr>
        <p:spPr>
          <a:xfrm>
            <a:off x="787400" y="4318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Generated native changes lack application scope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00DA2B2-67E8-DFCE-415A-BDC06D1E8227}"/>
              </a:ext>
            </a:extLst>
          </p:cNvPr>
          <p:cNvSpPr/>
          <p:nvPr/>
        </p:nvSpPr>
        <p:spPr>
          <a:xfrm>
            <a:off x="4318000" y="3657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6B4705-22B3-1656-263C-0FD9454E1364}"/>
              </a:ext>
            </a:extLst>
          </p:cNvPr>
          <p:cNvSpPr txBox="1"/>
          <p:nvPr/>
        </p:nvSpPr>
        <p:spPr>
          <a:xfrm>
            <a:off x="4546600" y="3886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Local-only CI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50000A-6640-B303-6D4D-181F33122EDF}"/>
              </a:ext>
            </a:extLst>
          </p:cNvPr>
          <p:cNvSpPr txBox="1"/>
          <p:nvPr/>
        </p:nvSpPr>
        <p:spPr>
          <a:xfrm>
            <a:off x="4546600" y="4318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Workspaces pass while application impact remains unknown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BB7698E-10DF-7C0B-62FD-FF71E0BA0FC0}"/>
              </a:ext>
            </a:extLst>
          </p:cNvPr>
          <p:cNvSpPr/>
          <p:nvPr/>
        </p:nvSpPr>
        <p:spPr>
          <a:xfrm>
            <a:off x="8077200" y="3657600"/>
            <a:ext cx="3429000" cy="15748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460742-8AD1-C107-FFEF-D0F2882B06B3}"/>
              </a:ext>
            </a:extLst>
          </p:cNvPr>
          <p:cNvSpPr txBox="1"/>
          <p:nvPr/>
        </p:nvSpPr>
        <p:spPr>
          <a:xfrm>
            <a:off x="8305800" y="38862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D95F31"/>
                </a:solidFill>
                <a:latin typeface="Aptos" panose="020B0004020202020204" pitchFamily="34" charset="0"/>
              </a:rPr>
              <a:t>No exit path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6996AE-903B-E6E9-73BD-AA36907A213C}"/>
              </a:ext>
            </a:extLst>
          </p:cNvPr>
          <p:cNvSpPr txBox="1"/>
          <p:nvPr/>
        </p:nvSpPr>
        <p:spPr>
          <a:xfrm>
            <a:off x="8305800" y="43180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FFFFFF"/>
                </a:solidFill>
                <a:latin typeface="Aptos" panose="020B0004020202020204" pitchFamily="34" charset="0"/>
              </a:rPr>
              <a:t>Migration omits fallback, rollback, substitution, and removal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1A3B4-A527-EEBE-979B-F5940138F959}"/>
              </a:ext>
            </a:extLst>
          </p:cNvPr>
          <p:cNvSpPr txBox="1"/>
          <p:nvPr/>
        </p:nvSpPr>
        <p:spPr>
          <a:xfrm>
            <a:off x="558800" y="59436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2B8C8"/>
                </a:solidFill>
                <a:latin typeface="Aptos" panose="020B0004020202020204" pitchFamily="34" charset="0"/>
              </a:rPr>
              <a:t>Cargo owns package truth. Microsoft still needs an application and portfolio layer.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CB8B3A-19AB-C5CA-CC42-94E4179500CA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Ferris now demonstrates this layer without replacing Cargo, CI, execution, or owner authority.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A0F748-1627-8B38-9010-A6B4E83F17E5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08610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B44488-ECE4-84F9-F119-CAACAA89A55E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PUBLIC PRODUCT PROOF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9FE4C-AB13-61B6-3A6E-3977F0FD8456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Ferris now proves the application layer can stay Cargo-native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FC9205-093B-4EF5-277E-1167C37E0E01}"/>
              </a:ext>
            </a:extLst>
          </p:cNvPr>
          <p:cNvSpPr/>
          <p:nvPr/>
        </p:nvSpPr>
        <p:spPr>
          <a:xfrm>
            <a:off x="660400" y="1676400"/>
            <a:ext cx="5207000" cy="1422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0E25AE-97D4-C626-6DA9-00B3E3B388E0}"/>
              </a:ext>
            </a:extLst>
          </p:cNvPr>
          <p:cNvSpPr/>
          <p:nvPr/>
        </p:nvSpPr>
        <p:spPr>
          <a:xfrm>
            <a:off x="660400" y="1676400"/>
            <a:ext cx="101600" cy="1422400"/>
          </a:xfrm>
          <a:prstGeom prst="rect">
            <a:avLst/>
          </a:prstGeom>
          <a:solidFill>
            <a:srgbClr val="CE4A2B"/>
          </a:solidFill>
          <a:ln w="19050" cap="flat" cmpd="sng" algn="ctr">
            <a:solidFill>
              <a:srgbClr val="CE4A2B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09C71D-B5F0-92C6-63CF-164D68F22FCF}"/>
              </a:ext>
            </a:extLst>
          </p:cNvPr>
          <p:cNvSpPr txBox="1"/>
          <p:nvPr/>
        </p:nvSpPr>
        <p:spPr>
          <a:xfrm>
            <a:off x="939800" y="18796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CARGO DISCOVERY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B8ACBE-97D0-0823-F318-E65C12EC16FC}"/>
              </a:ext>
            </a:extLst>
          </p:cNvPr>
          <p:cNvSpPr txBox="1"/>
          <p:nvPr/>
        </p:nvSpPr>
        <p:spPr>
          <a:xfrm>
            <a:off x="939800" y="23368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cargo ferris locates the current workspace through Cargo itself.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B4DD7FC-B8A8-AE47-F715-A1D6C7B6C573}"/>
              </a:ext>
            </a:extLst>
          </p:cNvPr>
          <p:cNvSpPr/>
          <p:nvPr/>
        </p:nvSpPr>
        <p:spPr>
          <a:xfrm>
            <a:off x="6223000" y="1676400"/>
            <a:ext cx="5207000" cy="1422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632837-421D-86F5-B26B-B10509A08359}"/>
              </a:ext>
            </a:extLst>
          </p:cNvPr>
          <p:cNvSpPr/>
          <p:nvPr/>
        </p:nvSpPr>
        <p:spPr>
          <a:xfrm>
            <a:off x="6223000" y="1676400"/>
            <a:ext cx="101600" cy="1422400"/>
          </a:xfrm>
          <a:prstGeom prst="rect">
            <a:avLst/>
          </a:prstGeom>
          <a:solidFill>
            <a:srgbClr val="CE4A2B"/>
          </a:solidFill>
          <a:ln w="19050" cap="flat" cmpd="sng" algn="ctr">
            <a:solidFill>
              <a:srgbClr val="CE4A2B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D8D68-E528-9B2C-AD41-B1DEFE371752}"/>
              </a:ext>
            </a:extLst>
          </p:cNvPr>
          <p:cNvSpPr txBox="1"/>
          <p:nvPr/>
        </p:nvSpPr>
        <p:spPr>
          <a:xfrm>
            <a:off x="6502400" y="18796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VALIDATION PLAN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80134B-9798-1CE5-27DE-4374511B3BE9}"/>
              </a:ext>
            </a:extLst>
          </p:cNvPr>
          <p:cNvSpPr txBox="1"/>
          <p:nvPr/>
        </p:nvSpPr>
        <p:spPr>
          <a:xfrm>
            <a:off x="6502400" y="23368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Changed paths and packages produce conservative, non-executable validation scope.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CA798DD-92B8-5C6C-4B37-93E5A14ECED4}"/>
              </a:ext>
            </a:extLst>
          </p:cNvPr>
          <p:cNvSpPr/>
          <p:nvPr/>
        </p:nvSpPr>
        <p:spPr>
          <a:xfrm>
            <a:off x="660400" y="3429000"/>
            <a:ext cx="5207000" cy="1422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11D83F-D6FB-F5B3-D583-322F950B1267}"/>
              </a:ext>
            </a:extLst>
          </p:cNvPr>
          <p:cNvSpPr/>
          <p:nvPr/>
        </p:nvSpPr>
        <p:spPr>
          <a:xfrm>
            <a:off x="660400" y="3429000"/>
            <a:ext cx="101600" cy="1422400"/>
          </a:xfrm>
          <a:prstGeom prst="rect">
            <a:avLst/>
          </a:prstGeom>
          <a:solidFill>
            <a:srgbClr val="52B8C8"/>
          </a:solidFill>
          <a:ln w="19050" cap="flat" cmpd="sng" algn="ctr">
            <a:solidFill>
              <a:srgbClr val="52B8C8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C6DA3-DA9C-994C-1795-DB0856908617}"/>
              </a:ext>
            </a:extLst>
          </p:cNvPr>
          <p:cNvSpPr txBox="1"/>
          <p:nvPr/>
        </p:nvSpPr>
        <p:spPr>
          <a:xfrm>
            <a:off x="939800" y="36322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FEDERATED PLAN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9B08D0-647F-3800-5686-ED865A3C54A6}"/>
              </a:ext>
            </a:extLst>
          </p:cNvPr>
          <p:cNvSpPr txBox="1"/>
          <p:nvPr/>
        </p:nvSpPr>
        <p:spPr>
          <a:xfrm>
            <a:off x="939800" y="40894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One strict request links 2-16 independent workspace plans without flattening Cargo truth.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5065F39-4077-F619-CB24-8B1A58FBA2C5}"/>
              </a:ext>
            </a:extLst>
          </p:cNvPr>
          <p:cNvSpPr/>
          <p:nvPr/>
        </p:nvSpPr>
        <p:spPr>
          <a:xfrm>
            <a:off x="6223000" y="3429000"/>
            <a:ext cx="5207000" cy="14224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2F2E8C-F22B-6FFB-7451-5D0F1ACD2A77}"/>
              </a:ext>
            </a:extLst>
          </p:cNvPr>
          <p:cNvSpPr/>
          <p:nvPr/>
        </p:nvSpPr>
        <p:spPr>
          <a:xfrm>
            <a:off x="6223000" y="3429000"/>
            <a:ext cx="101600" cy="1422400"/>
          </a:xfrm>
          <a:prstGeom prst="rect">
            <a:avLst/>
          </a:prstGeom>
          <a:solidFill>
            <a:srgbClr val="CE4A2B"/>
          </a:solidFill>
          <a:ln w="19050" cap="flat" cmpd="sng" algn="ctr">
            <a:solidFill>
              <a:srgbClr val="CE4A2B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AD3E2F-8275-B7EC-7789-66155F5B82FF}"/>
              </a:ext>
            </a:extLst>
          </p:cNvPr>
          <p:cNvSpPr txBox="1"/>
          <p:nvPr/>
        </p:nvSpPr>
        <p:spPr>
          <a:xfrm>
            <a:off x="6502400" y="36322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F2329"/>
                </a:solidFill>
                <a:latin typeface="Aptos" panose="020B0004020202020204" pitchFamily="34" charset="0"/>
              </a:rPr>
              <a:t>CONSUMER PINS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8DA327-F810-1996-79D7-3429120D1D09}"/>
              </a:ext>
            </a:extLst>
          </p:cNvPr>
          <p:cNvSpPr txBox="1"/>
          <p:nvPr/>
        </p:nvSpPr>
        <p:spPr>
          <a:xfrm>
            <a:off x="6502400" y="4089400"/>
            <a:ext cx="472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646C77"/>
                </a:solidFill>
                <a:latin typeface="Aptos" panose="020B0004020202020204" pitchFamily="34" charset="0"/>
              </a:rPr>
              <a:t>PARLOR and RUNE validate exact experimental output contracts on Windows and Ubuntu.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2855475-AADF-6EF9-7C9D-12D1282A0A0E}"/>
              </a:ext>
            </a:extLst>
          </p:cNvPr>
          <p:cNvSpPr/>
          <p:nvPr/>
        </p:nvSpPr>
        <p:spPr>
          <a:xfrm>
            <a:off x="660400" y="5359400"/>
            <a:ext cx="10769600" cy="6096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CF1358-D5C3-30CB-0714-E84E9CB78D01}"/>
              </a:ext>
            </a:extLst>
          </p:cNvPr>
          <p:cNvSpPr txBox="1"/>
          <p:nvPr/>
        </p:nvSpPr>
        <p:spPr>
          <a:xfrm>
            <a:off x="965200" y="55245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ptos Display" panose="020B0004020202020204" pitchFamily="34" charset="0"/>
              </a:rPr>
              <a:t>Read-only. Non-executable. Portable JSON. Unknowns widen safely.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9B75B4-EFB7-DDFC-7219-7198E50A9F15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Published schemas cover validation-plan success structure; runtime semantic invariants remain explicit.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AC5E2E-8B21-ACEF-FA4F-E1DB67B58B20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76517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7C20C8-EAA1-41B2-DDA1-5C2BB98DDB39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GITHUB + COPILOT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6A7D1F-367D-DEE2-0683-33CB00296F25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Copilot's differentiated opportunity is governed native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73CDCE3-DFB2-D4B5-5294-5DFE55CE4972}"/>
              </a:ext>
            </a:extLst>
          </p:cNvPr>
          <p:cNvSpPr/>
          <p:nvPr/>
        </p:nvSpPr>
        <p:spPr>
          <a:xfrm>
            <a:off x="11430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E0F43D-BEF7-DA55-674B-3721CDB05838}"/>
              </a:ext>
            </a:extLst>
          </p:cNvPr>
          <p:cNvSpPr txBox="1"/>
          <p:nvPr/>
        </p:nvSpPr>
        <p:spPr>
          <a:xfrm>
            <a:off x="13843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1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674A51-C33D-4FDE-6140-9297A1B1492A}"/>
              </a:ext>
            </a:extLst>
          </p:cNvPr>
          <p:cNvCxnSpPr/>
          <p:nvPr/>
        </p:nvCxnSpPr>
        <p:spPr>
          <a:xfrm>
            <a:off x="18669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E08230B-1965-E9B6-47E9-C20AA4DC1DD4}"/>
              </a:ext>
            </a:extLst>
          </p:cNvPr>
          <p:cNvSpPr txBox="1"/>
          <p:nvPr/>
        </p:nvSpPr>
        <p:spPr>
          <a:xfrm>
            <a:off x="6096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Discover application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6207B75-D7FB-297F-B0BE-68240037C876}"/>
              </a:ext>
            </a:extLst>
          </p:cNvPr>
          <p:cNvSpPr/>
          <p:nvPr/>
        </p:nvSpPr>
        <p:spPr>
          <a:xfrm>
            <a:off x="30353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0B660E-F192-F30D-3FFA-B5CA0D9D861C}"/>
              </a:ext>
            </a:extLst>
          </p:cNvPr>
          <p:cNvSpPr txBox="1"/>
          <p:nvPr/>
        </p:nvSpPr>
        <p:spPr>
          <a:xfrm>
            <a:off x="32766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CF27FFF-1DA5-481F-820E-F3BCD9830C1E}"/>
              </a:ext>
            </a:extLst>
          </p:cNvPr>
          <p:cNvCxnSpPr/>
          <p:nvPr/>
        </p:nvCxnSpPr>
        <p:spPr>
          <a:xfrm>
            <a:off x="37592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8D47E65-31B6-5FD0-CA4B-24E2BDB92860}"/>
              </a:ext>
            </a:extLst>
          </p:cNvPr>
          <p:cNvSpPr txBox="1"/>
          <p:nvPr/>
        </p:nvSpPr>
        <p:spPr>
          <a:xfrm>
            <a:off x="25019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Plan affected work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29CA353-9C78-2291-75E3-44924DE4A686}"/>
              </a:ext>
            </a:extLst>
          </p:cNvPr>
          <p:cNvSpPr/>
          <p:nvPr/>
        </p:nvSpPr>
        <p:spPr>
          <a:xfrm>
            <a:off x="49276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84F47B-39C1-36E3-FB33-31D7384AA46B}"/>
              </a:ext>
            </a:extLst>
          </p:cNvPr>
          <p:cNvSpPr txBox="1"/>
          <p:nvPr/>
        </p:nvSpPr>
        <p:spPr>
          <a:xfrm>
            <a:off x="51689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8E843B0-C917-88B7-225C-7794FD3368A9}"/>
              </a:ext>
            </a:extLst>
          </p:cNvPr>
          <p:cNvCxnSpPr/>
          <p:nvPr/>
        </p:nvCxnSpPr>
        <p:spPr>
          <a:xfrm>
            <a:off x="56515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EF6141C-D9EA-DA30-C003-4F72122E8F8B}"/>
              </a:ext>
            </a:extLst>
          </p:cNvPr>
          <p:cNvSpPr txBox="1"/>
          <p:nvPr/>
        </p:nvSpPr>
        <p:spPr>
          <a:xfrm>
            <a:off x="43942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Generate in scope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884A53-D0D8-68BD-4F03-FC6954C1E724}"/>
              </a:ext>
            </a:extLst>
          </p:cNvPr>
          <p:cNvSpPr/>
          <p:nvPr/>
        </p:nvSpPr>
        <p:spPr>
          <a:xfrm>
            <a:off x="68199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71E8D0-1217-0819-A572-EA35AC3399E7}"/>
              </a:ext>
            </a:extLst>
          </p:cNvPr>
          <p:cNvSpPr txBox="1"/>
          <p:nvPr/>
        </p:nvSpPr>
        <p:spPr>
          <a:xfrm>
            <a:off x="70612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4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F04C43D-7006-3520-5080-5AEBB28A3E47}"/>
              </a:ext>
            </a:extLst>
          </p:cNvPr>
          <p:cNvCxnSpPr/>
          <p:nvPr/>
        </p:nvCxnSpPr>
        <p:spPr>
          <a:xfrm>
            <a:off x="75438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4BDACEC-CC87-DACA-FE7F-59003EF4D35C}"/>
              </a:ext>
            </a:extLst>
          </p:cNvPr>
          <p:cNvSpPr txBox="1"/>
          <p:nvPr/>
        </p:nvSpPr>
        <p:spPr>
          <a:xfrm>
            <a:off x="62865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Compile + validate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B8FD131-6C0E-30D2-2837-A74CDAA6EE82}"/>
              </a:ext>
            </a:extLst>
          </p:cNvPr>
          <p:cNvSpPr/>
          <p:nvPr/>
        </p:nvSpPr>
        <p:spPr>
          <a:xfrm>
            <a:off x="8712200" y="1993900"/>
            <a:ext cx="711200" cy="711200"/>
          </a:xfrm>
          <a:prstGeom prst="ellipse">
            <a:avLst/>
          </a:prstGeom>
          <a:solidFill>
            <a:srgbClr val="CE4A2B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69F1AA-DFD0-1A79-4337-C42D34C85CDB}"/>
              </a:ext>
            </a:extLst>
          </p:cNvPr>
          <p:cNvSpPr txBox="1"/>
          <p:nvPr/>
        </p:nvSpPr>
        <p:spPr>
          <a:xfrm>
            <a:off x="89535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DFC719-6260-1696-1138-922152749AD2}"/>
              </a:ext>
            </a:extLst>
          </p:cNvPr>
          <p:cNvCxnSpPr/>
          <p:nvPr/>
        </p:nvCxnSpPr>
        <p:spPr>
          <a:xfrm>
            <a:off x="9436100" y="2349500"/>
            <a:ext cx="609600" cy="0"/>
          </a:xfrm>
          <a:prstGeom prst="line">
            <a:avLst/>
          </a:prstGeom>
          <a:ln w="38100">
            <a:solidFill>
              <a:srgbClr val="D95F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4773A8A-05D5-57EC-28DD-05FA10A6C7BF}"/>
              </a:ext>
            </a:extLst>
          </p:cNvPr>
          <p:cNvSpPr txBox="1"/>
          <p:nvPr/>
        </p:nvSpPr>
        <p:spPr>
          <a:xfrm>
            <a:off x="81788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Attach evidence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6C4D923-37E9-6006-38BA-27203B8DA9CE}"/>
              </a:ext>
            </a:extLst>
          </p:cNvPr>
          <p:cNvSpPr/>
          <p:nvPr/>
        </p:nvSpPr>
        <p:spPr>
          <a:xfrm>
            <a:off x="10604500" y="1993900"/>
            <a:ext cx="711200" cy="7112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7F419D-BFA0-ECBF-B465-F74E31B0A03C}"/>
              </a:ext>
            </a:extLst>
          </p:cNvPr>
          <p:cNvSpPr txBox="1"/>
          <p:nvPr/>
        </p:nvSpPr>
        <p:spPr>
          <a:xfrm>
            <a:off x="10845800" y="2197100"/>
            <a:ext cx="22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10212D"/>
                </a:solidFill>
                <a:latin typeface="Aptos Display" panose="020B00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88E3E2-27C1-CD73-3EC3-7868C079B49F}"/>
              </a:ext>
            </a:extLst>
          </p:cNvPr>
          <p:cNvSpPr txBox="1"/>
          <p:nvPr/>
        </p:nvSpPr>
        <p:spPr>
          <a:xfrm>
            <a:off x="10071100" y="2946400"/>
            <a:ext cx="177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1F2329"/>
                </a:solidFill>
                <a:latin typeface="Aptos" panose="020B0004020202020204" pitchFamily="34" charset="0"/>
              </a:rPr>
              <a:t>Human approval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FB89B74-ADBE-C1BF-5DC4-8FC39E25DF0B}"/>
              </a:ext>
            </a:extLst>
          </p:cNvPr>
          <p:cNvSpPr/>
          <p:nvPr/>
        </p:nvSpPr>
        <p:spPr>
          <a:xfrm>
            <a:off x="1270000" y="4064000"/>
            <a:ext cx="9652000" cy="13462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4BE535-84CC-2858-9117-61FDBCFCA622}"/>
              </a:ext>
            </a:extLst>
          </p:cNvPr>
          <p:cNvSpPr txBox="1"/>
          <p:nvPr/>
        </p:nvSpPr>
        <p:spPr>
          <a:xfrm>
            <a:off x="1676400" y="43434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D95F31"/>
                </a:solidFill>
                <a:latin typeface="Aptos" panose="020B0004020202020204" pitchFamily="34" charset="0"/>
              </a:rPr>
              <a:t>Not "Copilot writes Rust."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E59712-B702-A2DD-DB72-48063C3D2F48}"/>
              </a:ext>
            </a:extLst>
          </p:cNvPr>
          <p:cNvSpPr txBox="1"/>
          <p:nvPr/>
        </p:nvSpPr>
        <p:spPr>
          <a:xfrm>
            <a:off x="1676400" y="48006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Aptos Display" panose="020B0004020202020204" pitchFamily="34" charset="0"/>
              </a:rPr>
              <a:t>Copilot changes native systems with compiler-grounded, application-aware evidence.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D194B0-C6C5-6CBD-3150-2BF09D4FD0D6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AI may propose scope. Deterministic policy controls narrowing; unknowns widen safely.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DC06D3-458A-3B52-50F8-2BEC7A5669E3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65777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913FE5-7B1C-49CA-C3C4-8AF7F1D934A8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WHERE MICROSOFT PLAYS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2E3F29-A390-4E9C-914C-924C991548CF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Invest in two portfolios -- and keep the boundary explicit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22F5A3-CCF7-CC52-B99E-EE7800E44B18}"/>
              </a:ext>
            </a:extLst>
          </p:cNvPr>
          <p:cNvSpPr/>
          <p:nvPr/>
        </p:nvSpPr>
        <p:spPr>
          <a:xfrm>
            <a:off x="558800" y="1625600"/>
            <a:ext cx="5232400" cy="4013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2303F5-995B-E07C-9E59-6B6378E7656B}"/>
              </a:ext>
            </a:extLst>
          </p:cNvPr>
          <p:cNvSpPr/>
          <p:nvPr/>
        </p:nvSpPr>
        <p:spPr>
          <a:xfrm>
            <a:off x="6400800" y="1625600"/>
            <a:ext cx="5232400" cy="4013200"/>
          </a:xfrm>
          <a:prstGeom prst="roundRect">
            <a:avLst/>
          </a:prstGeom>
          <a:solidFill>
            <a:srgbClr val="F3F2EA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B4A96-0777-B3B6-55A9-66F98F718D1D}"/>
              </a:ext>
            </a:extLst>
          </p:cNvPr>
          <p:cNvSpPr txBox="1"/>
          <p:nvPr/>
        </p:nvSpPr>
        <p:spPr>
          <a:xfrm>
            <a:off x="889000" y="1955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CE4A2B"/>
                </a:solidFill>
                <a:latin typeface="Aptos" panose="020B0004020202020204" pitchFamily="34" charset="0"/>
              </a:rPr>
              <a:t>UPSTREAM PUBLIC GOOD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64C85-62F6-1B34-2E92-76DDE18AFB62}"/>
              </a:ext>
            </a:extLst>
          </p:cNvPr>
          <p:cNvSpPr txBox="1"/>
          <p:nvPr/>
        </p:nvSpPr>
        <p:spPr>
          <a:xfrm>
            <a:off x="889000" y="23622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646C77"/>
                </a:solidFill>
                <a:latin typeface="Aptos" panose="020B0004020202020204" pitchFamily="34" charset="0"/>
              </a:rPr>
              <a:t>Earn trust through existing owners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1FEDEA-600A-C379-AF2D-A52F9F03F587}"/>
              </a:ext>
            </a:extLst>
          </p:cNvPr>
          <p:cNvSpPr txBox="1"/>
          <p:nvPr/>
        </p:nvSpPr>
        <p:spPr>
          <a:xfrm>
            <a:off x="889000" y="29210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F2329"/>
                </a:solidFill>
                <a:latin typeface="Aptos" panose="020B0004020202020204" pitchFamily="34" charset="0"/>
              </a:rPr>
              <a:t>rustc + Cargo performance
Windows target, linker + debugger
Interop patterns + conformance
Supply chain + trusted publishing
Critical crate stewardship
Async diagnostics + WIT
Public AI assurance fixtures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8D1AB1-568B-CB3E-C1B9-C3051933A243}"/>
              </a:ext>
            </a:extLst>
          </p:cNvPr>
          <p:cNvSpPr txBox="1"/>
          <p:nvPr/>
        </p:nvSpPr>
        <p:spPr>
          <a:xfrm>
            <a:off x="6731000" y="19558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2B8C8"/>
                </a:solidFill>
                <a:latin typeface="Aptos" panose="020B0004020202020204" pitchFamily="34" charset="0"/>
              </a:rPr>
              <a:t>MICROSOFT DIFFERENTIATION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E10F50-E462-AE5C-44C8-AB56FC95DC38}"/>
              </a:ext>
            </a:extLst>
          </p:cNvPr>
          <p:cNvSpPr txBox="1"/>
          <p:nvPr/>
        </p:nvSpPr>
        <p:spPr>
          <a:xfrm>
            <a:off x="6731000" y="23622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646C77"/>
                </a:solidFill>
                <a:latin typeface="Aptos" panose="020B0004020202020204" pitchFamily="34" charset="0"/>
              </a:rPr>
              <a:t>Build where Microsoft has asymmetric assets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6E2A9-5B22-E2A5-DD82-074EE93D9170}"/>
              </a:ext>
            </a:extLst>
          </p:cNvPr>
          <p:cNvSpPr txBox="1"/>
          <p:nvPr/>
        </p:nvSpPr>
        <p:spPr>
          <a:xfrm>
            <a:off x="6731000" y="29210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F2329"/>
                </a:solidFill>
                <a:latin typeface="Aptos" panose="020B0004020202020204" pitchFamily="34" charset="0"/>
              </a:rPr>
              <a:t>GitHub Rust estate intelligence
Copilot governed native change
Azure build + provenance plane
Windows enterprise Rust excellence
Renewable application profiles
Cross-repository affected work
Entra / Key Vault / policy connectors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0C879C-986C-BAC4-0529-6FBAA437BF9A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Rule: shared language infrastructure upstream; portable application governance plus Microsoft integrations in product.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5D901F-5F7A-232E-4F46-E4A9B3738197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901759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4DA727-936D-C035-E338-75E1DD393AF3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UPSTREAM STEWARDSHIP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1DB7FB-261A-99FB-1D57-FC6C1A284C85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Microsoft can earn durable community credit by funding the hard middle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99D7F6-1A49-6CD5-5B05-6B92DC8FC3B5}"/>
              </a:ext>
            </a:extLst>
          </p:cNvPr>
          <p:cNvSpPr/>
          <p:nvPr/>
        </p:nvSpPr>
        <p:spPr>
          <a:xfrm>
            <a:off x="685800" y="1574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3F7AC-6298-35EB-D0CB-91C5012DBAA0}"/>
              </a:ext>
            </a:extLst>
          </p:cNvPr>
          <p:cNvSpPr txBox="1"/>
          <p:nvPr/>
        </p:nvSpPr>
        <p:spPr>
          <a:xfrm>
            <a:off x="914400" y="1752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Measure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5AAA5-4E24-3E88-00B6-105318ECC9BD}"/>
              </a:ext>
            </a:extLst>
          </p:cNvPr>
          <p:cNvSpPr txBox="1"/>
          <p:nvPr/>
        </p:nvSpPr>
        <p:spPr>
          <a:xfrm>
            <a:off x="3022600" y="1714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Benchmarks, minimized regressions, cross-platform fixtures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F301EF2-0DAC-033E-487B-8CA3DE559A36}"/>
              </a:ext>
            </a:extLst>
          </p:cNvPr>
          <p:cNvSpPr/>
          <p:nvPr/>
        </p:nvSpPr>
        <p:spPr>
          <a:xfrm>
            <a:off x="685800" y="2463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B2E152-AFD5-F842-A4C0-28A5D28BB251}"/>
              </a:ext>
            </a:extLst>
          </p:cNvPr>
          <p:cNvSpPr txBox="1"/>
          <p:nvPr/>
        </p:nvSpPr>
        <p:spPr>
          <a:xfrm>
            <a:off x="914400" y="2641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Align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6D0199-37FB-3765-AAF2-5E05FCA95935}"/>
              </a:ext>
            </a:extLst>
          </p:cNvPr>
          <p:cNvSpPr txBox="1"/>
          <p:nvPr/>
        </p:nvSpPr>
        <p:spPr>
          <a:xfrm>
            <a:off x="3022600" y="2603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Ask maintainers where evidence and implementation belong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4AC63A-ED9F-4E61-5F17-124375798BF2}"/>
              </a:ext>
            </a:extLst>
          </p:cNvPr>
          <p:cNvSpPr/>
          <p:nvPr/>
        </p:nvSpPr>
        <p:spPr>
          <a:xfrm>
            <a:off x="685800" y="3352800"/>
            <a:ext cx="1905000" cy="635000"/>
          </a:xfrm>
          <a:prstGeom prst="roundRect">
            <a:avLst/>
          </a:prstGeom>
          <a:solidFill>
            <a:srgbClr val="CE4A2B"/>
          </a:solidFill>
          <a:ln w="19050" cap="flat" cmpd="sng" algn="ctr">
            <a:solidFill>
              <a:srgbClr val="CE4A2B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115339-2077-4B2A-167C-BC686EB61804}"/>
              </a:ext>
            </a:extLst>
          </p:cNvPr>
          <p:cNvSpPr txBox="1"/>
          <p:nvPr/>
        </p:nvSpPr>
        <p:spPr>
          <a:xfrm>
            <a:off x="914400" y="3530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Contribute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6DAD02-93EF-5CC7-5CF6-70BE7BE51CFA}"/>
              </a:ext>
            </a:extLst>
          </p:cNvPr>
          <p:cNvSpPr txBox="1"/>
          <p:nvPr/>
        </p:nvSpPr>
        <p:spPr>
          <a:xfrm>
            <a:off x="3022600" y="3492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Tests, patches, documentation, review and infrastructure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E7E784A-9584-13FB-CC1D-DCC66E24EDF3}"/>
              </a:ext>
            </a:extLst>
          </p:cNvPr>
          <p:cNvSpPr/>
          <p:nvPr/>
        </p:nvSpPr>
        <p:spPr>
          <a:xfrm>
            <a:off x="685800" y="4241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5AACFA-800A-B988-0345-AEAEDAAFC263}"/>
              </a:ext>
            </a:extLst>
          </p:cNvPr>
          <p:cNvSpPr txBox="1"/>
          <p:nvPr/>
        </p:nvSpPr>
        <p:spPr>
          <a:xfrm>
            <a:off x="914400" y="4419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Maintain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D5EB42-48B7-2F2A-57A6-88164999C2E3}"/>
              </a:ext>
            </a:extLst>
          </p:cNvPr>
          <p:cNvSpPr txBox="1"/>
          <p:nvPr/>
        </p:nvSpPr>
        <p:spPr>
          <a:xfrm>
            <a:off x="3022600" y="4381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Fund releases, triage, compatibility, and succession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D36FAA0-CDED-F5EA-9D5E-FC5AB78D42B4}"/>
              </a:ext>
            </a:extLst>
          </p:cNvPr>
          <p:cNvSpPr/>
          <p:nvPr/>
        </p:nvSpPr>
        <p:spPr>
          <a:xfrm>
            <a:off x="685800" y="5130800"/>
            <a:ext cx="1905000" cy="635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521833-5F85-9C6B-D229-3F0EAD56ACE8}"/>
              </a:ext>
            </a:extLst>
          </p:cNvPr>
          <p:cNvSpPr txBox="1"/>
          <p:nvPr/>
        </p:nvSpPr>
        <p:spPr>
          <a:xfrm>
            <a:off x="914400" y="53086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Retire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F4D525-D223-2A6F-DBD7-32BACFF486FE}"/>
              </a:ext>
            </a:extLst>
          </p:cNvPr>
          <p:cNvSpPr txBox="1"/>
          <p:nvPr/>
        </p:nvSpPr>
        <p:spPr>
          <a:xfrm>
            <a:off x="3022600" y="52705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F2329"/>
                </a:solidFill>
                <a:latin typeface="Aptos" panose="020B0004020202020204" pitchFamily="34" charset="0"/>
              </a:rPr>
              <a:t>Remove downstream work when upstream or consumer need changes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A7B887-F1B0-3484-23C1-8CBA3976A654}"/>
              </a:ext>
            </a:extLst>
          </p:cNvPr>
          <p:cNvSpPr txBox="1"/>
          <p:nvPr/>
        </p:nvSpPr>
        <p:spPr>
          <a:xfrm>
            <a:off x="685800" y="5867400"/>
            <a:ext cx="1069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b="1">
                <a:solidFill>
                  <a:srgbClr val="CE4A2B"/>
                </a:solidFill>
                <a:latin typeface="Aptos Display" panose="020B0004020202020204" pitchFamily="34" charset="0"/>
              </a:rPr>
              <a:t>Success = accepted, maintained, broadly useful upstream outcomes -- not a Microsoft-owned fork.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611E9-26E0-1ED0-18EE-0A70892A224C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Initial targets: rustc-perf RDR benchmark, Cargo evidence, Windows tooling, generated-boundary provenance.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4AE2B5-1384-57BD-1B2E-3A7560EB00F2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73582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D81B0D-41F8-59CF-A243-E3BCC0953B94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PROOF TO PILOT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1901F8-4054-748A-CF85-412C09111514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The foundation is real; the application proof is next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AE77EE4-EC39-2974-5A32-C2E6CFACCC81}"/>
              </a:ext>
            </a:extLst>
          </p:cNvPr>
          <p:cNvSpPr/>
          <p:nvPr/>
        </p:nvSpPr>
        <p:spPr>
          <a:xfrm>
            <a:off x="660400" y="16510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3CE910-B5C3-6F88-F836-38BACB262FA6}"/>
              </a:ext>
            </a:extLst>
          </p:cNvPr>
          <p:cNvSpPr/>
          <p:nvPr/>
        </p:nvSpPr>
        <p:spPr>
          <a:xfrm>
            <a:off x="863600" y="18415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E90675-9AF3-DE7E-DC3C-F2AF8D9208BF}"/>
              </a:ext>
            </a:extLst>
          </p:cNvPr>
          <p:cNvSpPr txBox="1"/>
          <p:nvPr/>
        </p:nvSpPr>
        <p:spPr>
          <a:xfrm>
            <a:off x="914400" y="19304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9FDC5-A468-6303-84F9-5DCFF78038C1}"/>
              </a:ext>
            </a:extLst>
          </p:cNvPr>
          <p:cNvSpPr txBox="1"/>
          <p:nvPr/>
        </p:nvSpPr>
        <p:spPr>
          <a:xfrm>
            <a:off x="1447800" y="1778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rgbClr val="CE4A2B"/>
                </a:solidFill>
                <a:latin typeface="Aptos" panose="020B0004020202020204" pitchFamily="34" charset="0"/>
              </a:rPr>
              <a:t>PROVEN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63BE8F-AA97-6BE5-2B92-85675EB29CB8}"/>
              </a:ext>
            </a:extLst>
          </p:cNvPr>
          <p:cNvSpPr txBox="1"/>
          <p:nvPr/>
        </p:nvSpPr>
        <p:spPr>
          <a:xfrm>
            <a:off x="1447800" y="20193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 b="1">
                <a:solidFill>
                  <a:srgbClr val="1F2329"/>
                </a:solidFill>
                <a:latin typeface="Aptos" panose="020B0004020202020204" pitchFamily="34" charset="0"/>
              </a:rPr>
              <a:t>Cargo-native discovery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BEA666A-3A78-7025-0BA6-741EF99E9652}"/>
              </a:ext>
            </a:extLst>
          </p:cNvPr>
          <p:cNvSpPr/>
          <p:nvPr/>
        </p:nvSpPr>
        <p:spPr>
          <a:xfrm>
            <a:off x="4419600" y="16510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2E140C1-E629-4DD9-31B8-839AB249C7E6}"/>
              </a:ext>
            </a:extLst>
          </p:cNvPr>
          <p:cNvSpPr/>
          <p:nvPr/>
        </p:nvSpPr>
        <p:spPr>
          <a:xfrm>
            <a:off x="4622800" y="18415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4BA787-FA93-7075-68F9-D2F28A74C814}"/>
              </a:ext>
            </a:extLst>
          </p:cNvPr>
          <p:cNvSpPr txBox="1"/>
          <p:nvPr/>
        </p:nvSpPr>
        <p:spPr>
          <a:xfrm>
            <a:off x="4673600" y="19304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594ED0-3A63-BC11-FA0D-A931E382832E}"/>
              </a:ext>
            </a:extLst>
          </p:cNvPr>
          <p:cNvSpPr txBox="1"/>
          <p:nvPr/>
        </p:nvSpPr>
        <p:spPr>
          <a:xfrm>
            <a:off x="5207000" y="1778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rgbClr val="CE4A2B"/>
                </a:solidFill>
                <a:latin typeface="Aptos" panose="020B0004020202020204" pitchFamily="34" charset="0"/>
              </a:rPr>
              <a:t>PROVEN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D03F02-1263-E69A-894C-CC144B225AB6}"/>
              </a:ext>
            </a:extLst>
          </p:cNvPr>
          <p:cNvSpPr txBox="1"/>
          <p:nvPr/>
        </p:nvSpPr>
        <p:spPr>
          <a:xfrm>
            <a:off x="5207000" y="20193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 b="1">
                <a:solidFill>
                  <a:srgbClr val="1F2329"/>
                </a:solidFill>
                <a:latin typeface="Aptos" panose="020B0004020202020204" pitchFamily="34" charset="0"/>
              </a:rPr>
              <a:t>Conservative validation scope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1FAC30-C0A3-507F-4F3E-19D3A6961CDF}"/>
              </a:ext>
            </a:extLst>
          </p:cNvPr>
          <p:cNvSpPr/>
          <p:nvPr/>
        </p:nvSpPr>
        <p:spPr>
          <a:xfrm>
            <a:off x="8178800" y="16510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2A569A-3001-21A6-0F1D-86104C65D3F2}"/>
              </a:ext>
            </a:extLst>
          </p:cNvPr>
          <p:cNvSpPr/>
          <p:nvPr/>
        </p:nvSpPr>
        <p:spPr>
          <a:xfrm>
            <a:off x="8382000" y="18415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02774E-F0F7-0C3F-DB2C-79070E6E7046}"/>
              </a:ext>
            </a:extLst>
          </p:cNvPr>
          <p:cNvSpPr txBox="1"/>
          <p:nvPr/>
        </p:nvSpPr>
        <p:spPr>
          <a:xfrm>
            <a:off x="8432800" y="19304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FA58F1-B300-E03D-BA43-6A3B5FAE8924}"/>
              </a:ext>
            </a:extLst>
          </p:cNvPr>
          <p:cNvSpPr txBox="1"/>
          <p:nvPr/>
        </p:nvSpPr>
        <p:spPr>
          <a:xfrm>
            <a:off x="8966200" y="1778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rgbClr val="CE4A2B"/>
                </a:solidFill>
                <a:latin typeface="Aptos" panose="020B0004020202020204" pitchFamily="34" charset="0"/>
              </a:rPr>
              <a:t>PROVEN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B6A4F-6F20-515D-0D57-11C4439B21BF}"/>
              </a:ext>
            </a:extLst>
          </p:cNvPr>
          <p:cNvSpPr txBox="1"/>
          <p:nvPr/>
        </p:nvSpPr>
        <p:spPr>
          <a:xfrm>
            <a:off x="8966200" y="20193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 b="1">
                <a:solidFill>
                  <a:srgbClr val="1F2329"/>
                </a:solidFill>
                <a:latin typeface="Aptos" panose="020B0004020202020204" pitchFamily="34" charset="0"/>
              </a:rPr>
              <a:t>2-16 workspace federation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18A7B4C-0C79-DC77-6FD2-A3FBFE3B038A}"/>
              </a:ext>
            </a:extLst>
          </p:cNvPr>
          <p:cNvSpPr/>
          <p:nvPr/>
        </p:nvSpPr>
        <p:spPr>
          <a:xfrm>
            <a:off x="660400" y="27686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405EF9B-A749-243C-FFB7-122B30726914}"/>
              </a:ext>
            </a:extLst>
          </p:cNvPr>
          <p:cNvSpPr/>
          <p:nvPr/>
        </p:nvSpPr>
        <p:spPr>
          <a:xfrm>
            <a:off x="863600" y="2959100"/>
            <a:ext cx="431800" cy="4318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50F7E5-18B9-0CF9-4EF4-E3E6321B96D2}"/>
              </a:ext>
            </a:extLst>
          </p:cNvPr>
          <p:cNvSpPr txBox="1"/>
          <p:nvPr/>
        </p:nvSpPr>
        <p:spPr>
          <a:xfrm>
            <a:off x="914400" y="30480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00" b="1">
                <a:solidFill>
                  <a:srgbClr val="10212D"/>
                </a:solidFill>
                <a:latin typeface="Aptos Display" panose="020B0004020202020204" pitchFamily="34" charset="0"/>
              </a:rPr>
              <a:t>OK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07ADC3-1653-481E-CF53-8B1239ACAB02}"/>
              </a:ext>
            </a:extLst>
          </p:cNvPr>
          <p:cNvSpPr txBox="1"/>
          <p:nvPr/>
        </p:nvSpPr>
        <p:spPr>
          <a:xfrm>
            <a:off x="1447800" y="2895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rgbClr val="CE4A2B"/>
                </a:solidFill>
                <a:latin typeface="Aptos" panose="020B0004020202020204" pitchFamily="34" charset="0"/>
              </a:rPr>
              <a:t>PROVEN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491E1C-6D29-8C2A-6FDE-D1A1AD3B2A49}"/>
              </a:ext>
            </a:extLst>
          </p:cNvPr>
          <p:cNvSpPr txBox="1"/>
          <p:nvPr/>
        </p:nvSpPr>
        <p:spPr>
          <a:xfrm>
            <a:off x="1447800" y="31369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 b="1">
                <a:solidFill>
                  <a:srgbClr val="1F2329"/>
                </a:solidFill>
                <a:latin typeface="Aptos" panose="020B0004020202020204" pitchFamily="34" charset="0"/>
              </a:rPr>
              <a:t>Two consumer-owned pins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3EDAEC4-C6E4-9361-1D42-7560EE7ED0E0}"/>
              </a:ext>
            </a:extLst>
          </p:cNvPr>
          <p:cNvSpPr/>
          <p:nvPr/>
        </p:nvSpPr>
        <p:spPr>
          <a:xfrm>
            <a:off x="4419600" y="27686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13ECF4F-9C99-86FD-BA77-71C09A9E2C4C}"/>
              </a:ext>
            </a:extLst>
          </p:cNvPr>
          <p:cNvSpPr/>
          <p:nvPr/>
        </p:nvSpPr>
        <p:spPr>
          <a:xfrm>
            <a:off x="4622800" y="2959100"/>
            <a:ext cx="431800" cy="431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75EDA8-04F7-ABC0-517F-53C0C96EBD98}"/>
              </a:ext>
            </a:extLst>
          </p:cNvPr>
          <p:cNvSpPr txBox="1"/>
          <p:nvPr/>
        </p:nvSpPr>
        <p:spPr>
          <a:xfrm>
            <a:off x="4673600" y="30480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00" b="1">
                <a:solidFill>
                  <a:srgbClr val="10212D"/>
                </a:solidFill>
                <a:latin typeface="Aptos Display" panose="020B0004020202020204" pitchFamily="34" charset="0"/>
              </a:rPr>
              <a:t>NXT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E0AAB4-D57B-F96F-C9E2-A6281BB03DAD}"/>
              </a:ext>
            </a:extLst>
          </p:cNvPr>
          <p:cNvSpPr txBox="1"/>
          <p:nvPr/>
        </p:nvSpPr>
        <p:spPr>
          <a:xfrm>
            <a:off x="5207000" y="2895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rgbClr val="CE4A2B"/>
                </a:solidFill>
                <a:latin typeface="Aptos" panose="020B0004020202020204" pitchFamily="34" charset="0"/>
              </a:rPr>
              <a:t>NEXT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CD7C4B-151E-FB8D-CF8E-FFEBDDDF7E80}"/>
              </a:ext>
            </a:extLst>
          </p:cNvPr>
          <p:cNvSpPr txBox="1"/>
          <p:nvPr/>
        </p:nvSpPr>
        <p:spPr>
          <a:xfrm>
            <a:off x="5207000" y="31369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 b="1">
                <a:solidFill>
                  <a:srgbClr val="1F2329"/>
                </a:solidFill>
                <a:latin typeface="Aptos" panose="020B0004020202020204" pitchFamily="34" charset="0"/>
              </a:rPr>
              <a:t>Native or service boundary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D0F747A-1599-CF09-C808-720276C5D6D1}"/>
              </a:ext>
            </a:extLst>
          </p:cNvPr>
          <p:cNvSpPr/>
          <p:nvPr/>
        </p:nvSpPr>
        <p:spPr>
          <a:xfrm>
            <a:off x="8178800" y="2768600"/>
            <a:ext cx="3429000" cy="838200"/>
          </a:xfrm>
          <a:prstGeom prst="roundRect">
            <a:avLst/>
          </a:prstGeom>
          <a:solidFill>
            <a:srgbClr val="E8F1F7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B308855-B676-BBE6-5868-0E09A17ED302}"/>
              </a:ext>
            </a:extLst>
          </p:cNvPr>
          <p:cNvSpPr/>
          <p:nvPr/>
        </p:nvSpPr>
        <p:spPr>
          <a:xfrm>
            <a:off x="8382000" y="2959100"/>
            <a:ext cx="431800" cy="431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519918-EAA5-5DC7-F1E0-4E444D531D5A}"/>
              </a:ext>
            </a:extLst>
          </p:cNvPr>
          <p:cNvSpPr txBox="1"/>
          <p:nvPr/>
        </p:nvSpPr>
        <p:spPr>
          <a:xfrm>
            <a:off x="8432800" y="3048000"/>
            <a:ext cx="33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00" b="1">
                <a:solidFill>
                  <a:srgbClr val="10212D"/>
                </a:solidFill>
                <a:latin typeface="Aptos Display" panose="020B0004020202020204" pitchFamily="34" charset="0"/>
              </a:rPr>
              <a:t>NXT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C11F3E-D478-0A87-0F60-694D56E9D4D6}"/>
              </a:ext>
            </a:extLst>
          </p:cNvPr>
          <p:cNvSpPr txBox="1"/>
          <p:nvPr/>
        </p:nvSpPr>
        <p:spPr>
          <a:xfrm>
            <a:off x="8966200" y="2895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rgbClr val="CE4A2B"/>
                </a:solidFill>
                <a:latin typeface="Aptos" panose="020B0004020202020204" pitchFamily="34" charset="0"/>
              </a:rPr>
              <a:t>NEXT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54AD47-303C-0BEC-88CD-CEBADCE4A8B2}"/>
              </a:ext>
            </a:extLst>
          </p:cNvPr>
          <p:cNvSpPr txBox="1"/>
          <p:nvPr/>
        </p:nvSpPr>
        <p:spPr>
          <a:xfrm>
            <a:off x="8966200" y="31369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 b="1">
                <a:solidFill>
                  <a:srgbClr val="1F2329"/>
                </a:solidFill>
                <a:latin typeface="Aptos" panose="020B0004020202020204" pitchFamily="34" charset="0"/>
              </a:rPr>
              <a:t>GitHub + Azure design partner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D44581B-6226-378D-7273-2175A6F820C3}"/>
              </a:ext>
            </a:extLst>
          </p:cNvPr>
          <p:cNvSpPr/>
          <p:nvPr/>
        </p:nvSpPr>
        <p:spPr>
          <a:xfrm>
            <a:off x="660400" y="4241800"/>
            <a:ext cx="10947400" cy="14732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10212D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A47E11-9ABE-FE5D-0833-5E261B5345A3}"/>
              </a:ext>
            </a:extLst>
          </p:cNvPr>
          <p:cNvSpPr txBox="1"/>
          <p:nvPr/>
        </p:nvSpPr>
        <p:spPr>
          <a:xfrm>
            <a:off x="990600" y="4546600"/>
            <a:ext cx="1026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900" b="1">
                <a:solidFill>
                  <a:srgbClr val="FFFFFF"/>
                </a:solidFill>
                <a:latin typeface="Aptos Display" panose="020B0004020202020204" pitchFamily="34" charset="0"/>
              </a:rPr>
              <a:t>Next proof: one owned application, real boundaries, owner validation, rollback, and removal.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2E1116-C34B-C396-47F6-D9B616850D9D}"/>
              </a:ext>
            </a:extLst>
          </p:cNvPr>
          <p:cNvSpPr txBox="1"/>
          <p:nvPr/>
        </p:nvSpPr>
        <p:spPr>
          <a:xfrm>
            <a:off x="990600" y="5105400"/>
            <a:ext cx="1026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D95F31"/>
                </a:solidFill>
                <a:latin typeface="Aptos" panose="020B0004020202020204" pitchFamily="34" charset="0"/>
              </a:rPr>
              <a:t>Ferris remains removable and read-first; execution is not part of this ask.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336038-6FBF-2325-C031-305BDDD94BC7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Current status: public incubation platform, exact experimental contracts, no production support claim.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B08FC9-C04C-78AF-13E6-58E07D29CC2E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443231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96BED9-EEA7-B2B2-E2EC-A421ECDBE280}"/>
              </a:ext>
            </a:extLst>
          </p:cNvPr>
          <p:cNvSpPr txBox="1"/>
          <p:nvPr/>
        </p:nvSpPr>
        <p:spPr>
          <a:xfrm>
            <a:off x="558800" y="3048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CE4A2B"/>
                </a:solidFill>
                <a:latin typeface="Aptos" panose="020B0004020202020204" pitchFamily="34" charset="0"/>
              </a:rPr>
              <a:t>ROADMAP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0A055B-E6BC-8E01-3696-6163FB1B62D5}"/>
              </a:ext>
            </a:extLst>
          </p:cNvPr>
          <p:cNvSpPr txBox="1"/>
          <p:nvPr/>
        </p:nvSpPr>
        <p:spPr>
          <a:xfrm>
            <a:off x="558800" y="635000"/>
            <a:ext cx="11074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F2329"/>
                </a:solidFill>
                <a:latin typeface="Aptos Display" panose="020B0004020202020204" pitchFamily="34" charset="0"/>
              </a:rPr>
              <a:t>A staged investment keeps ambition high and risk bounded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743BCF-AA8B-1BAF-0DF0-FC9D8F95470E}"/>
              </a:ext>
            </a:extLst>
          </p:cNvPr>
          <p:cNvSpPr/>
          <p:nvPr/>
        </p:nvSpPr>
        <p:spPr>
          <a:xfrm>
            <a:off x="558800" y="1803400"/>
            <a:ext cx="2514600" cy="3556000"/>
          </a:xfrm>
          <a:prstGeom prst="roundRect">
            <a:avLst/>
          </a:prstGeom>
          <a:solidFill>
            <a:srgbClr val="10212D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9BEB3B-E227-279D-333C-F4C4296CDF0C}"/>
              </a:ext>
            </a:extLst>
          </p:cNvPr>
          <p:cNvSpPr txBox="1"/>
          <p:nvPr/>
        </p:nvSpPr>
        <p:spPr>
          <a:xfrm>
            <a:off x="7620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D95F31"/>
                </a:solidFill>
                <a:latin typeface="Aptos" panose="020B0004020202020204" pitchFamily="34" charset="0"/>
              </a:rPr>
              <a:t>NOW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85E856-B762-F64D-E207-144D94AE0F99}"/>
              </a:ext>
            </a:extLst>
          </p:cNvPr>
          <p:cNvSpPr txBox="1"/>
          <p:nvPr/>
        </p:nvSpPr>
        <p:spPr>
          <a:xfrm>
            <a:off x="7620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FFFFFF"/>
                </a:solidFill>
                <a:latin typeface="Aptos Display" panose="020B0004020202020204" pitchFamily="34" charset="0"/>
              </a:rPr>
              <a:t>Public foundation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FACBD3-B750-8DF4-7798-FFA0248A30D6}"/>
              </a:ext>
            </a:extLst>
          </p:cNvPr>
          <p:cNvSpPr txBox="1"/>
          <p:nvPr/>
        </p:nvSpPr>
        <p:spPr>
          <a:xfrm>
            <a:off x="7620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E5E1D8"/>
                </a:solidFill>
                <a:latin typeface="Aptos" panose="020B0004020202020204" pitchFamily="34" charset="0"/>
              </a:rPr>
              <a:t>Cargo-native plans
Federation + schemas
PARLOR + RUNE pins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FDD5C6D-0005-AE51-9C8A-5594561962E1}"/>
              </a:ext>
            </a:extLst>
          </p:cNvPr>
          <p:cNvSpPr/>
          <p:nvPr/>
        </p:nvSpPr>
        <p:spPr>
          <a:xfrm>
            <a:off x="3378200" y="1803400"/>
            <a:ext cx="2514600" cy="355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EF6F4-5582-6548-39F6-2DBEE58D30FE}"/>
              </a:ext>
            </a:extLst>
          </p:cNvPr>
          <p:cNvSpPr txBox="1"/>
          <p:nvPr/>
        </p:nvSpPr>
        <p:spPr>
          <a:xfrm>
            <a:off x="35814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CE4A2B"/>
                </a:solidFill>
                <a:latin typeface="Aptos" panose="020B0004020202020204" pitchFamily="34" charset="0"/>
              </a:rPr>
              <a:t>0-6 MONTHS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C51C31-39CB-F86E-910E-64CB8025C1A7}"/>
              </a:ext>
            </a:extLst>
          </p:cNvPr>
          <p:cNvSpPr txBox="1"/>
          <p:nvPr/>
        </p:nvSpPr>
        <p:spPr>
          <a:xfrm>
            <a:off x="35814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F2329"/>
                </a:solidFill>
                <a:latin typeface="Aptos Display" panose="020B0004020202020204" pitchFamily="34" charset="0"/>
              </a:rPr>
              <a:t>Application proof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92A541-D40D-67B4-0538-995AFC1DD5A3}"/>
              </a:ext>
            </a:extLst>
          </p:cNvPr>
          <p:cNvSpPr txBox="1"/>
          <p:nvPr/>
        </p:nvSpPr>
        <p:spPr>
          <a:xfrm>
            <a:off x="35814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646C77"/>
                </a:solidFill>
                <a:latin typeface="Aptos" panose="020B0004020202020204" pitchFamily="34" charset="0"/>
              </a:rPr>
              <a:t>Named design partner
Boundary + owner gates
Rollback + removal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499C3D0-0EF4-D64D-B80E-54424BA28FE5}"/>
              </a:ext>
            </a:extLst>
          </p:cNvPr>
          <p:cNvSpPr/>
          <p:nvPr/>
        </p:nvSpPr>
        <p:spPr>
          <a:xfrm>
            <a:off x="6197600" y="1803400"/>
            <a:ext cx="2514600" cy="355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D9644-E212-5033-A7D2-A232A79B29DF}"/>
              </a:ext>
            </a:extLst>
          </p:cNvPr>
          <p:cNvSpPr txBox="1"/>
          <p:nvPr/>
        </p:nvSpPr>
        <p:spPr>
          <a:xfrm>
            <a:off x="64008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CE4A2B"/>
                </a:solidFill>
                <a:latin typeface="Aptos" panose="020B0004020202020204" pitchFamily="34" charset="0"/>
              </a:rPr>
              <a:t>6-12 MONTHS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154C74-1B1C-E66A-F7D8-F4B920A302A1}"/>
              </a:ext>
            </a:extLst>
          </p:cNvPr>
          <p:cNvSpPr txBox="1"/>
          <p:nvPr/>
        </p:nvSpPr>
        <p:spPr>
          <a:xfrm>
            <a:off x="64008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F2329"/>
                </a:solidFill>
                <a:latin typeface="Aptos Display" panose="020B0004020202020204" pitchFamily="34" charset="0"/>
              </a:rPr>
              <a:t>Platform pilot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B7A9E4-F2DE-2285-C5CE-C32F93129923}"/>
              </a:ext>
            </a:extLst>
          </p:cNvPr>
          <p:cNvSpPr txBox="1"/>
          <p:nvPr/>
        </p:nvSpPr>
        <p:spPr>
          <a:xfrm>
            <a:off x="64008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646C77"/>
                </a:solidFill>
                <a:latin typeface="Aptos" panose="020B0004020202020204" pitchFamily="34" charset="0"/>
              </a:rPr>
              <a:t>Multiple orgs
Read-only MCP
Copilot + Azure connectors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D724CD5-1F7D-8A9F-AB9D-84D6A456342F}"/>
              </a:ext>
            </a:extLst>
          </p:cNvPr>
          <p:cNvSpPr/>
          <p:nvPr/>
        </p:nvSpPr>
        <p:spPr>
          <a:xfrm>
            <a:off x="9017000" y="1803400"/>
            <a:ext cx="2514600" cy="3556000"/>
          </a:xfrm>
          <a:prstGeom prst="roundRect">
            <a:avLst/>
          </a:prstGeom>
          <a:solidFill>
            <a:srgbClr val="FCFDFF"/>
          </a:solidFill>
          <a:ln w="19050" cap="flat" cmpd="sng" algn="ctr">
            <a:solidFill>
              <a:srgbClr val="C5CED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09E1E6-C827-BD92-5D05-A4FFC6FBD93E}"/>
              </a:ext>
            </a:extLst>
          </p:cNvPr>
          <p:cNvSpPr txBox="1"/>
          <p:nvPr/>
        </p:nvSpPr>
        <p:spPr>
          <a:xfrm>
            <a:off x="9220200" y="2057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CE4A2B"/>
                </a:solidFill>
                <a:latin typeface="Aptos" panose="020B0004020202020204" pitchFamily="34" charset="0"/>
              </a:rPr>
              <a:t>12-24 MONTHS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19F89C-046D-44DE-5E9C-781D4F716B94}"/>
              </a:ext>
            </a:extLst>
          </p:cNvPr>
          <p:cNvSpPr txBox="1"/>
          <p:nvPr/>
        </p:nvSpPr>
        <p:spPr>
          <a:xfrm>
            <a:off x="9220200" y="25654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F2329"/>
                </a:solidFill>
                <a:latin typeface="Aptos Display" panose="020B0004020202020204" pitchFamily="34" charset="0"/>
              </a:rPr>
              <a:t>Selective product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4DC7AA-6469-3EBB-ABED-FC88028FAA7B}"/>
              </a:ext>
            </a:extLst>
          </p:cNvPr>
          <p:cNvSpPr txBox="1"/>
          <p:nvPr/>
        </p:nvSpPr>
        <p:spPr>
          <a:xfrm>
            <a:off x="9220200" y="3505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646C77"/>
                </a:solidFill>
                <a:latin typeface="Aptos" panose="020B0004020202020204" pitchFamily="34" charset="0"/>
              </a:rPr>
              <a:t>Supported capabilities
Renewable profiles
SLAs + outcomes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E17F0DC-89D0-F5B0-56C2-4694E9B8A002}"/>
              </a:ext>
            </a:extLst>
          </p:cNvPr>
          <p:cNvCxnSpPr/>
          <p:nvPr/>
        </p:nvCxnSpPr>
        <p:spPr>
          <a:xfrm>
            <a:off x="1117600" y="5765800"/>
            <a:ext cx="9956800" cy="0"/>
          </a:xfrm>
          <a:prstGeom prst="line">
            <a:avLst/>
          </a:prstGeom>
          <a:ln w="50800">
            <a:solidFill>
              <a:srgbClr val="CE4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D5ABB1B-795C-3101-64A3-BC54F54E60FB}"/>
              </a:ext>
            </a:extLst>
          </p:cNvPr>
          <p:cNvSpPr/>
          <p:nvPr/>
        </p:nvSpPr>
        <p:spPr>
          <a:xfrm>
            <a:off x="10287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FF96A94-DACF-30FD-C374-4367BEAF178D}"/>
              </a:ext>
            </a:extLst>
          </p:cNvPr>
          <p:cNvSpPr/>
          <p:nvPr/>
        </p:nvSpPr>
        <p:spPr>
          <a:xfrm>
            <a:off x="38481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37071DE-7E99-F91F-34C3-C5F252F90A2F}"/>
              </a:ext>
            </a:extLst>
          </p:cNvPr>
          <p:cNvSpPr/>
          <p:nvPr/>
        </p:nvSpPr>
        <p:spPr>
          <a:xfrm>
            <a:off x="66675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CC7784A-A2CB-7F83-70D4-BE1031CC4DFF}"/>
              </a:ext>
            </a:extLst>
          </p:cNvPr>
          <p:cNvSpPr/>
          <p:nvPr/>
        </p:nvSpPr>
        <p:spPr>
          <a:xfrm>
            <a:off x="94869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4CB53BC-BCCF-FECA-02B2-889132754C90}"/>
              </a:ext>
            </a:extLst>
          </p:cNvPr>
          <p:cNvSpPr/>
          <p:nvPr/>
        </p:nvSpPr>
        <p:spPr>
          <a:xfrm>
            <a:off x="10985500" y="5676900"/>
            <a:ext cx="177800" cy="1778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1FBB28-9BBB-CC8F-EB53-6238A5610B5E}"/>
              </a:ext>
            </a:extLst>
          </p:cNvPr>
          <p:cNvSpPr txBox="1"/>
          <p:nvPr/>
        </p:nvSpPr>
        <p:spPr>
          <a:xfrm>
            <a:off x="558800" y="6273800"/>
            <a:ext cx="1028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646C77"/>
                </a:solidFill>
                <a:latin typeface="Aptos" panose="020B0004020202020204" pitchFamily="34" charset="0"/>
              </a:rPr>
              <a:t>Stage gates: named owner demand, measurable value, cross-platform proof, policy safety, rollback, and removal.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733792-6206-3F6B-5E7F-5C36AED7824C}"/>
              </a:ext>
            </a:extLst>
          </p:cNvPr>
          <p:cNvSpPr txBox="1"/>
          <p:nvPr/>
        </p:nvSpPr>
        <p:spPr>
          <a:xfrm>
            <a:off x="11252200" y="6248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00" b="1">
                <a:solidFill>
                  <a:srgbClr val="646C77"/>
                </a:solidFill>
                <a:latin typeface="Aptos" panose="020B0004020202020204" pitchFamily="34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655045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56C25B-068B-3F3D-5C92-5E317E5328F5}"/>
              </a:ext>
            </a:extLst>
          </p:cNvPr>
          <p:cNvSpPr txBox="1"/>
          <p:nvPr/>
        </p:nvSpPr>
        <p:spPr>
          <a:xfrm>
            <a:off x="609600" y="406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D95F31"/>
                </a:solidFill>
                <a:latin typeface="Aptos" panose="020B0004020202020204" pitchFamily="34" charset="0"/>
              </a:rPr>
              <a:t>THE LEADERSHIP 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747047-72ED-A071-80D0-E627C974EFF1}"/>
              </a:ext>
            </a:extLst>
          </p:cNvPr>
          <p:cNvSpPr txBox="1"/>
          <p:nvPr/>
        </p:nvSpPr>
        <p:spPr>
          <a:xfrm>
            <a:off x="609600" y="8382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100" b="1">
                <a:solidFill>
                  <a:srgbClr val="FFFFFF"/>
                </a:solidFill>
                <a:latin typeface="Aptos Display" panose="020B0004020202020204" pitchFamily="34" charset="0"/>
              </a:rPr>
              <a:t>Sponsor the application strategy -- not another isolated Rust tool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918C57D-6B2B-3D13-D5B5-E481377ACACE}"/>
              </a:ext>
            </a:extLst>
          </p:cNvPr>
          <p:cNvSpPr/>
          <p:nvPr/>
        </p:nvSpPr>
        <p:spPr>
          <a:xfrm>
            <a:off x="1219200" y="20193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36959B5-85A5-EFCB-8966-B7447A708DC7}"/>
              </a:ext>
            </a:extLst>
          </p:cNvPr>
          <p:cNvSpPr/>
          <p:nvPr/>
        </p:nvSpPr>
        <p:spPr>
          <a:xfrm>
            <a:off x="685800" y="20955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3DD072-E1DF-A1F3-C8A9-5488DB18EFDA}"/>
              </a:ext>
            </a:extLst>
          </p:cNvPr>
          <p:cNvSpPr txBox="1"/>
          <p:nvPr/>
        </p:nvSpPr>
        <p:spPr>
          <a:xfrm>
            <a:off x="825500" y="21971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5A2EF-C339-679F-7EAC-EEC62EFE9D48}"/>
              </a:ext>
            </a:extLst>
          </p:cNvPr>
          <p:cNvSpPr txBox="1"/>
          <p:nvPr/>
        </p:nvSpPr>
        <p:spPr>
          <a:xfrm>
            <a:off x="1473200" y="21463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Sponsor one six-month application proof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11C7D8-D97A-4323-9454-BCD736214E96}"/>
              </a:ext>
            </a:extLst>
          </p:cNvPr>
          <p:cNvSpPr/>
          <p:nvPr/>
        </p:nvSpPr>
        <p:spPr>
          <a:xfrm>
            <a:off x="1219200" y="27559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8616F55-D808-3376-54F4-995147D7AF1E}"/>
              </a:ext>
            </a:extLst>
          </p:cNvPr>
          <p:cNvSpPr/>
          <p:nvPr/>
        </p:nvSpPr>
        <p:spPr>
          <a:xfrm>
            <a:off x="685800" y="28321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3AFA-6847-4E4F-B491-B6BE8264F037}"/>
              </a:ext>
            </a:extLst>
          </p:cNvPr>
          <p:cNvSpPr txBox="1"/>
          <p:nvPr/>
        </p:nvSpPr>
        <p:spPr>
          <a:xfrm>
            <a:off x="825500" y="29337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D59C9B-C24C-A55A-AE56-B75031679CB3}"/>
              </a:ext>
            </a:extLst>
          </p:cNvPr>
          <p:cNvSpPr txBox="1"/>
          <p:nvPr/>
        </p:nvSpPr>
        <p:spPr>
          <a:xfrm>
            <a:off x="1473200" y="28829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Name one systems application + GitHub/Copilot workflow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5735BE8-0D98-5201-58E3-FDAF2365F241}"/>
              </a:ext>
            </a:extLst>
          </p:cNvPr>
          <p:cNvSpPr/>
          <p:nvPr/>
        </p:nvSpPr>
        <p:spPr>
          <a:xfrm>
            <a:off x="1219200" y="34925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E064558-BB20-65EE-00BA-91B13F27D864}"/>
              </a:ext>
            </a:extLst>
          </p:cNvPr>
          <p:cNvSpPr/>
          <p:nvPr/>
        </p:nvSpPr>
        <p:spPr>
          <a:xfrm>
            <a:off x="685800" y="35687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3DCB0A-BED7-166A-26A2-4BB11DC96FDC}"/>
              </a:ext>
            </a:extLst>
          </p:cNvPr>
          <p:cNvSpPr txBox="1"/>
          <p:nvPr/>
        </p:nvSpPr>
        <p:spPr>
          <a:xfrm>
            <a:off x="825500" y="36703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4D090D-FE48-AECA-0635-A564B80D147E}"/>
              </a:ext>
            </a:extLst>
          </p:cNvPr>
          <p:cNvSpPr txBox="1"/>
          <p:nvPr/>
        </p:nvSpPr>
        <p:spPr>
          <a:xfrm>
            <a:off x="1473200" y="36195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Privacy-safe Rust estate census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D5E16A-115C-10B4-7E57-1C3F82584328}"/>
              </a:ext>
            </a:extLst>
          </p:cNvPr>
          <p:cNvSpPr/>
          <p:nvPr/>
        </p:nvSpPr>
        <p:spPr>
          <a:xfrm>
            <a:off x="1219200" y="42291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97DCC27-5CA5-952E-EA16-08531B24E190}"/>
              </a:ext>
            </a:extLst>
          </p:cNvPr>
          <p:cNvSpPr/>
          <p:nvPr/>
        </p:nvSpPr>
        <p:spPr>
          <a:xfrm>
            <a:off x="685800" y="4305300"/>
            <a:ext cx="406400" cy="406400"/>
          </a:xfrm>
          <a:prstGeom prst="ellipse">
            <a:avLst/>
          </a:prstGeom>
          <a:solidFill>
            <a:srgbClr val="D95F31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E4CED8-1E79-D694-CBE1-4B1E68139878}"/>
              </a:ext>
            </a:extLst>
          </p:cNvPr>
          <p:cNvSpPr txBox="1"/>
          <p:nvPr/>
        </p:nvSpPr>
        <p:spPr>
          <a:xfrm>
            <a:off x="825500" y="44069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118DB8-CEEC-1245-2D35-3480ECD6B479}"/>
              </a:ext>
            </a:extLst>
          </p:cNvPr>
          <p:cNvSpPr txBox="1"/>
          <p:nvPr/>
        </p:nvSpPr>
        <p:spPr>
          <a:xfrm>
            <a:off x="1473200" y="43561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Dedicated upstream liaison + maintainer funding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965D5C8-D094-7440-D8F0-32533BF80ABE}"/>
              </a:ext>
            </a:extLst>
          </p:cNvPr>
          <p:cNvSpPr/>
          <p:nvPr/>
        </p:nvSpPr>
        <p:spPr>
          <a:xfrm>
            <a:off x="1219200" y="4965700"/>
            <a:ext cx="9652000" cy="5334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E3A3165-B374-A234-A06B-1A1D80931F4A}"/>
              </a:ext>
            </a:extLst>
          </p:cNvPr>
          <p:cNvSpPr/>
          <p:nvPr/>
        </p:nvSpPr>
        <p:spPr>
          <a:xfrm>
            <a:off x="685800" y="5041900"/>
            <a:ext cx="406400" cy="406400"/>
          </a:xfrm>
          <a:prstGeom prst="ellipse">
            <a:avLst/>
          </a:prstGeom>
          <a:solidFill>
            <a:srgbClr val="52B8C8"/>
          </a:solidFill>
          <a:ln w="1905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1923C2-BCC1-3049-3237-07B322F5675A}"/>
              </a:ext>
            </a:extLst>
          </p:cNvPr>
          <p:cNvSpPr txBox="1"/>
          <p:nvPr/>
        </p:nvSpPr>
        <p:spPr>
          <a:xfrm>
            <a:off x="825500" y="5143500"/>
            <a:ext cx="152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10212D"/>
                </a:solidFill>
                <a:latin typeface="Aptos Display" panose="020B00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26E334-53DE-3019-46DD-46D463A46DAF}"/>
              </a:ext>
            </a:extLst>
          </p:cNvPr>
          <p:cNvSpPr txBox="1"/>
          <p:nvPr/>
        </p:nvSpPr>
        <p:spPr>
          <a:xfrm>
            <a:off x="1473200" y="5092700"/>
            <a:ext cx="906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Aptos" panose="020B0004020202020204" pitchFamily="34" charset="0"/>
              </a:rPr>
              <a:t>Require Windows/Linux, rollback, removal, and a null-case gate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2B05CAE-BC1D-5A20-2D7A-D58D87B208FA}"/>
              </a:ext>
            </a:extLst>
          </p:cNvPr>
          <p:cNvSpPr/>
          <p:nvPr/>
        </p:nvSpPr>
        <p:spPr>
          <a:xfrm>
            <a:off x="609600" y="5791200"/>
            <a:ext cx="10972800" cy="508000"/>
          </a:xfrm>
          <a:prstGeom prst="roundRect">
            <a:avLst/>
          </a:prstGeom>
          <a:solidFill>
            <a:srgbClr val="2D3644"/>
          </a:solidFill>
          <a:ln w="19050" cap="flat" cmpd="sng" algn="ctr">
            <a:solidFill>
              <a:srgbClr val="2D3644">
                <a:alpha val="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98153B-7C7E-1E75-2F69-B2FEF49E3411}"/>
              </a:ext>
            </a:extLst>
          </p:cNvPr>
          <p:cNvSpPr txBox="1"/>
          <p:nvPr/>
        </p:nvSpPr>
        <p:spPr>
          <a:xfrm>
            <a:off x="889000" y="59309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 b="1">
                <a:solidFill>
                  <a:srgbClr val="52B8C8"/>
                </a:solidFill>
                <a:latin typeface="Aptos" panose="020B0004020202020204" pitchFamily="34" charset="0"/>
              </a:rPr>
              <a:t>Grab the moment: align the workspaces, crates, contracts, and applications before fragmentation hardens.</a:t>
            </a:r>
          </a:p>
        </p:txBody>
      </p:sp>
    </p:spTree>
    <p:extLst>
      <p:ext uri="{BB962C8B-B14F-4D97-AF65-F5344CB8AC3E}">
        <p14:creationId xmlns:p14="http://schemas.microsoft.com/office/powerpoint/2010/main" val="1537845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1075</Words>
  <Application>Microsoft Office PowerPoint</Application>
  <PresentationFormat>Custom</PresentationFormat>
  <Paragraphs>178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 Della-Libera</dc:creator>
  <cp:lastModifiedBy>Gio Della-Libera</cp:lastModifiedBy>
  <cp:revision>1</cp:revision>
  <dcterms:created xsi:type="dcterms:W3CDTF">2026-08-19T19:08:21Z</dcterms:created>
  <dcterms:modified xsi:type="dcterms:W3CDTF">2026-08-19T19:08:21Z</dcterms:modified>
</cp:coreProperties>
</file>