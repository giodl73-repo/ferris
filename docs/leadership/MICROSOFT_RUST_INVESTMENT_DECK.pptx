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2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17C83-D5F1-F284-4A39-F08D30E42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764F9-E2EB-7FFE-ADAA-6AF0B7ADE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82373-F1A7-8AE1-CE2E-8BB833E9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3C0E3-A0E5-1A77-3F3B-4F20269B5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B1F2-1CAE-DE27-7D41-21049EA4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7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850F-2E55-B7FF-55F1-7F84B7FAE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7EBE0-ACF0-9313-BA29-6CBE96121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38A24-F3F0-9E33-CA98-744B79E7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C9F9-8623-90FD-81E4-B2D2FF3F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5B84C-7581-0A4F-BCBD-B76F7E68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23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F5EB-72B4-CCEE-4C18-1318C265D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3C02E-79A3-6227-2744-299DD7684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E8956-EC1D-457C-D8D5-DC0490DF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E6D95-B73E-BF7F-27BC-134FC6428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9A90-0D02-4129-3AB4-5C40E9DE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2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A0B3B-1E54-4400-F0A5-53666FEA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DBB69-17D9-825A-81B2-3CA04CDC5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6AF9C-3A59-B665-9B21-C7EAB0E3D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ACC47-E032-1CF7-20F3-990E76EF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10675-A0B8-916C-81C4-2F0AE8F5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67AE9-41D1-3A70-312A-52F7491D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3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8720-9F8B-7D4A-A0F4-D662F685E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76895-EC1E-DD60-29E8-CF0B7167D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0AD77-7D0C-08F2-F54D-D3477BD00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92F472-96F4-0326-DC88-08362B35F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6F31A-D1EF-C8AE-C09E-EED56DDF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8175-829C-1841-9631-1743BBA3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A38BE6-D269-D587-FEE5-8A6A5B3D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5E0887-BC78-5825-F445-B87A717B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2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47BB-FED4-0D6E-A094-FFBB697A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2E7E7-5379-C0A2-6C1D-44A33C1BB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9533D-346C-CD12-BC8D-1F07B15A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8C4B-CA10-AFDD-5254-28B58C29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1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C9F0D-1158-D5B3-B497-C96A6CE0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C1F34-096A-4310-51B3-7845A76C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FE047-6282-7A30-E37F-2C6E2CF3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6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35B79-1E29-3D0C-5FBE-B0A09281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380A3-3E9F-2269-2118-E301B74E0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564DD-B108-AC3E-C63A-4379299CB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706A9-507F-66D4-6C64-1D8BFE0F5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993C8-1258-B378-3988-B394479C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140C5-AB3B-A2D4-CC2D-9F226C28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1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9175-A235-E051-C70C-45BDE2A7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10015-6954-166B-A689-908D40C3E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113A6-9874-3B68-315C-A8D4AF453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6E98D-2730-7999-8C7C-6CC5027B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A11BB-273F-BB74-724F-C0B6526B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D30E4-FEDB-8FEC-E812-EC7507021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64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F08CC-AC96-DD9F-60D9-16C2B620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D8A8C-C02C-2DE3-02A3-E5AE4FC93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40E32-7020-B056-0495-76635DC0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E858E-2917-EB73-A02E-5E34C737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295D9-D0EF-3759-7A8C-03F895A3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03EE68-052D-0F22-16EE-68E34B389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C7C3-52A5-7ADA-4593-1B0F35954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92E0-15EF-11E0-FB29-E095930E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1F39E-D55A-1430-D645-4E28FA73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D19D-0B47-2B17-73BA-7F658C5B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B7412-1AD8-C51D-70C0-3D4D2D9D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7801C-A4A7-5AEE-CFD1-D05A0C7E2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39C0-996C-EDCF-157F-222A77D57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B46EF-BC55-43A4-9BE9-7DF2F9C6E93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D4972-6FDD-9D34-3279-DB3A7BF6A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A100-55CA-089E-B4F2-7479BFE14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BC448-00DA-4911-8130-CC0B5B7D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6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18377-D676-2C2C-5557-0C424B73ED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12D"/>
          </a:solidFill>
          <a:ln w="19050" cap="flat" cmpd="sng" algn="ctr">
            <a:solidFill>
              <a:srgbClr val="10212D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D5E582-76FA-BFC1-4075-64C3252B8742}"/>
              </a:ext>
            </a:extLst>
          </p:cNvPr>
          <p:cNvSpPr/>
          <p:nvPr/>
        </p:nvSpPr>
        <p:spPr>
          <a:xfrm>
            <a:off x="8763000" y="-1143000"/>
            <a:ext cx="4191000" cy="41910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6417F8-EA2C-B7CC-8FAB-2688021B8C39}"/>
              </a:ext>
            </a:extLst>
          </p:cNvPr>
          <p:cNvSpPr/>
          <p:nvPr/>
        </p:nvSpPr>
        <p:spPr>
          <a:xfrm>
            <a:off x="9779000" y="508000"/>
            <a:ext cx="3175000" cy="31750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2D1CA5-C114-FF3A-71E2-DEEF46053B32}"/>
              </a:ext>
            </a:extLst>
          </p:cNvPr>
          <p:cNvSpPr/>
          <p:nvPr/>
        </p:nvSpPr>
        <p:spPr>
          <a:xfrm>
            <a:off x="8255000" y="2921000"/>
            <a:ext cx="4572000" cy="4572000"/>
          </a:xfrm>
          <a:prstGeom prst="ellipse">
            <a:avLst/>
          </a:prstGeom>
          <a:solidFill>
            <a:srgbClr val="52B8C8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AB5C8-7A62-EB11-545F-80C7280527EF}"/>
              </a:ext>
            </a:extLst>
          </p:cNvPr>
          <p:cNvSpPr txBox="1"/>
          <p:nvPr/>
        </p:nvSpPr>
        <p:spPr>
          <a:xfrm>
            <a:off x="711200" y="6858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D95F31"/>
                </a:solidFill>
                <a:latin typeface="Aptos" panose="020B0004020202020204" pitchFamily="34" charset="0"/>
              </a:rPr>
              <a:t>MICROSOFT + RUST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0D817-CA27-71E8-63A2-7DA33FE09999}"/>
              </a:ext>
            </a:extLst>
          </p:cNvPr>
          <p:cNvSpPr txBox="1"/>
          <p:nvPr/>
        </p:nvSpPr>
        <p:spPr>
          <a:xfrm>
            <a:off x="711200" y="13462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 Display" panose="020B0004020202020204" pitchFamily="34" charset="0"/>
              </a:rPr>
              <a:t>Govern the conversion while the estate is still forming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150993-B8ED-ABEF-9644-69E893027A50}"/>
              </a:ext>
            </a:extLst>
          </p:cNvPr>
          <p:cNvSpPr txBox="1"/>
          <p:nvPr/>
        </p:nvSpPr>
        <p:spPr>
          <a:xfrm>
            <a:off x="736600" y="33528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E5E1D8"/>
                </a:solidFill>
                <a:latin typeface="Aptos" panose="020B0004020202020204" pitchFamily="34" charset="0"/>
              </a:rPr>
              <a:t>A portfolio strategy for application blueprints, compiler-grounded AI, Windows and Azure differentiation, and fair upstream stewardship.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F85F27-0B4C-DF29-93FB-A474611B8075}"/>
              </a:ext>
            </a:extLst>
          </p:cNvPr>
          <p:cNvSpPr/>
          <p:nvPr/>
        </p:nvSpPr>
        <p:spPr>
          <a:xfrm>
            <a:off x="736600" y="4851400"/>
            <a:ext cx="3860800" cy="3302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5CA90-8F23-643A-EE92-D4677F37C2A5}"/>
              </a:ext>
            </a:extLst>
          </p:cNvPr>
          <p:cNvSpPr txBox="1"/>
          <p:nvPr/>
        </p:nvSpPr>
        <p:spPr>
          <a:xfrm>
            <a:off x="863600" y="4927600"/>
            <a:ext cx="360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Leadership discussion draft | 21 Sep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D489B-C75C-B572-13BE-D124728AB0F4}"/>
              </a:ext>
            </a:extLst>
          </p:cNvPr>
          <p:cNvSpPr txBox="1"/>
          <p:nvPr/>
        </p:nvSpPr>
        <p:spPr>
          <a:xfrm>
            <a:off x="736600" y="5918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52B8C8"/>
                </a:solidFill>
                <a:latin typeface="Aptos" panose="020B0004020202020204" pitchFamily="34" charset="0"/>
              </a:rPr>
              <a:t>FERRIS</a:t>
            </a:r>
          </a:p>
        </p:txBody>
      </p:sp>
    </p:spTree>
    <p:extLst>
      <p:ext uri="{BB962C8B-B14F-4D97-AF65-F5344CB8AC3E}">
        <p14:creationId xmlns:p14="http://schemas.microsoft.com/office/powerpoint/2010/main" val="3221785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3F994-CA70-3202-93E5-14D15F7D6752}"/>
              </a:ext>
            </a:extLst>
          </p:cNvPr>
          <p:cNvSpPr txBox="1"/>
          <p:nvPr/>
        </p:nvSpPr>
        <p:spPr>
          <a:xfrm>
            <a:off x="558800" y="304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CE4A2B"/>
                </a:solidFill>
                <a:latin typeface="Aptos" panose="020B0004020202020204" pitchFamily="34" charset="0"/>
              </a:rPr>
              <a:t>THE MOMENT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62DF49-FA7F-2B0D-FCB7-3F3AD4233D8C}"/>
              </a:ext>
            </a:extLst>
          </p:cNvPr>
          <p:cNvSpPr txBox="1"/>
          <p:nvPr/>
        </p:nvSpPr>
        <p:spPr>
          <a:xfrm>
            <a:off x="558800" y="635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F2329"/>
                </a:solidFill>
                <a:latin typeface="Aptos Display" panose="020B0004020202020204" pitchFamily="34" charset="0"/>
              </a:rPr>
              <a:t>Rust has crossed from developer preference to platform strategy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97223E-4F9D-1066-7D58-24C4BB633C8A}"/>
              </a:ext>
            </a:extLst>
          </p:cNvPr>
          <p:cNvSpPr/>
          <p:nvPr/>
        </p:nvSpPr>
        <p:spPr>
          <a:xfrm>
            <a:off x="558800" y="1676400"/>
            <a:ext cx="2514600" cy="18034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D4CBD-4620-FF09-1748-8A9C036DB537}"/>
              </a:ext>
            </a:extLst>
          </p:cNvPr>
          <p:cNvSpPr txBox="1"/>
          <p:nvPr/>
        </p:nvSpPr>
        <p:spPr>
          <a:xfrm>
            <a:off x="787400" y="19050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CE4A2B"/>
                </a:solidFill>
                <a:latin typeface="Aptos Display" panose="020B0004020202020204" pitchFamily="34" charset="0"/>
              </a:rPr>
              <a:t>83%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2275F-4381-ECAD-CE9A-9DC51355183C}"/>
              </a:ext>
            </a:extLst>
          </p:cNvPr>
          <p:cNvSpPr txBox="1"/>
          <p:nvPr/>
        </p:nvSpPr>
        <p:spPr>
          <a:xfrm>
            <a:off x="787400" y="26289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F2329"/>
                </a:solidFill>
                <a:latin typeface="Aptos" panose="020B0004020202020204" pitchFamily="34" charset="0"/>
              </a:rPr>
              <a:t>admired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0086E-A137-FC66-F35F-B8D6E3635A79}"/>
              </a:ext>
            </a:extLst>
          </p:cNvPr>
          <p:cNvSpPr txBox="1"/>
          <p:nvPr/>
        </p:nvSpPr>
        <p:spPr>
          <a:xfrm>
            <a:off x="787400" y="29845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6C77"/>
                </a:solidFill>
                <a:latin typeface="Aptos" panose="020B0004020202020204" pitchFamily="34" charset="0"/>
              </a:rPr>
              <a:t>Stack Overflow 2024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E65388-2036-9A41-AEAB-B99F98F9C01B}"/>
              </a:ext>
            </a:extLst>
          </p:cNvPr>
          <p:cNvSpPr/>
          <p:nvPr/>
        </p:nvSpPr>
        <p:spPr>
          <a:xfrm>
            <a:off x="3378200" y="1676400"/>
            <a:ext cx="2514600" cy="18034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E1C1B5-0904-AC33-41FD-413491140D8A}"/>
              </a:ext>
            </a:extLst>
          </p:cNvPr>
          <p:cNvSpPr txBox="1"/>
          <p:nvPr/>
        </p:nvSpPr>
        <p:spPr>
          <a:xfrm>
            <a:off x="3606800" y="19050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CE4A2B"/>
                </a:solidFill>
                <a:latin typeface="Aptos Display" panose="020B0004020202020204" pitchFamily="34" charset="0"/>
              </a:rPr>
              <a:t>48.8%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C15CD-C030-D99E-BB9B-D7D09A076B05}"/>
              </a:ext>
            </a:extLst>
          </p:cNvPr>
          <p:cNvSpPr txBox="1"/>
          <p:nvPr/>
        </p:nvSpPr>
        <p:spPr>
          <a:xfrm>
            <a:off x="3606800" y="26289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F2329"/>
                </a:solidFill>
                <a:latin typeface="Aptos" panose="020B0004020202020204" pitchFamily="34" charset="0"/>
              </a:rPr>
              <a:t>organizational 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EC9D94-629E-AFE2-1FEB-FB3CF31CE3B2}"/>
              </a:ext>
            </a:extLst>
          </p:cNvPr>
          <p:cNvSpPr txBox="1"/>
          <p:nvPr/>
        </p:nvSpPr>
        <p:spPr>
          <a:xfrm>
            <a:off x="3606800" y="29845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6C77"/>
                </a:solidFill>
                <a:latin typeface="Aptos" panose="020B0004020202020204" pitchFamily="34" charset="0"/>
              </a:rPr>
              <a:t>non-trivial use, Rust survey 2025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4EA5CE-B745-D151-B718-AC6B905D98A9}"/>
              </a:ext>
            </a:extLst>
          </p:cNvPr>
          <p:cNvSpPr/>
          <p:nvPr/>
        </p:nvSpPr>
        <p:spPr>
          <a:xfrm>
            <a:off x="6197600" y="1676400"/>
            <a:ext cx="2514600" cy="18034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BD0F64-79BF-FDA4-CA06-952F561BF8B2}"/>
              </a:ext>
            </a:extLst>
          </p:cNvPr>
          <p:cNvSpPr txBox="1"/>
          <p:nvPr/>
        </p:nvSpPr>
        <p:spPr>
          <a:xfrm>
            <a:off x="6426200" y="19050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CE4A2B"/>
                </a:solidFill>
                <a:latin typeface="Aptos Display" panose="020B0004020202020204" pitchFamily="34" charset="0"/>
              </a:rPr>
              <a:t>315K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2D196C-8DBE-00AE-860A-BDE860FD9133}"/>
              </a:ext>
            </a:extLst>
          </p:cNvPr>
          <p:cNvSpPr txBox="1"/>
          <p:nvPr/>
        </p:nvSpPr>
        <p:spPr>
          <a:xfrm>
            <a:off x="6426200" y="26289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F2329"/>
                </a:solidFill>
                <a:latin typeface="Aptos" panose="020B0004020202020204" pitchFamily="34" charset="0"/>
              </a:rPr>
              <a:t>published crates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AEB5F4-8ED9-7A37-DA0D-E887E15AABD3}"/>
              </a:ext>
            </a:extLst>
          </p:cNvPr>
          <p:cNvSpPr txBox="1"/>
          <p:nvPr/>
        </p:nvSpPr>
        <p:spPr>
          <a:xfrm>
            <a:off x="6426200" y="29845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6C77"/>
                </a:solidFill>
                <a:latin typeface="Aptos" panose="020B0004020202020204" pitchFamily="34" charset="0"/>
              </a:rPr>
              <a:t>crates.io, 11 Aug 2026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58DCCA-2E7C-6CF5-F4C5-369D634949B8}"/>
              </a:ext>
            </a:extLst>
          </p:cNvPr>
          <p:cNvSpPr/>
          <p:nvPr/>
        </p:nvSpPr>
        <p:spPr>
          <a:xfrm>
            <a:off x="9017000" y="1676400"/>
            <a:ext cx="2514600" cy="18034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11FEED-D99C-8434-B6D4-533EFD6D0298}"/>
              </a:ext>
            </a:extLst>
          </p:cNvPr>
          <p:cNvSpPr txBox="1"/>
          <p:nvPr/>
        </p:nvSpPr>
        <p:spPr>
          <a:xfrm>
            <a:off x="9245600" y="19050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CE4A2B"/>
                </a:solidFill>
                <a:latin typeface="Aptos Display" panose="020B0004020202020204" pitchFamily="34" charset="0"/>
              </a:rPr>
              <a:t>395B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850696-619C-5674-EE84-C16F7900DA2D}"/>
              </a:ext>
            </a:extLst>
          </p:cNvPr>
          <p:cNvSpPr txBox="1"/>
          <p:nvPr/>
        </p:nvSpPr>
        <p:spPr>
          <a:xfrm>
            <a:off x="9245600" y="26289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F2329"/>
                </a:solidFill>
                <a:latin typeface="Aptos" panose="020B0004020202020204" pitchFamily="34" charset="0"/>
              </a:rPr>
              <a:t>downloads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A20A81-9E5D-CA0D-8434-D6A2DF3C1E76}"/>
              </a:ext>
            </a:extLst>
          </p:cNvPr>
          <p:cNvSpPr txBox="1"/>
          <p:nvPr/>
        </p:nvSpPr>
        <p:spPr>
          <a:xfrm>
            <a:off x="9245600" y="29845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6C77"/>
                </a:solidFill>
                <a:latin typeface="Aptos" panose="020B0004020202020204" pitchFamily="34" charset="0"/>
              </a:rPr>
              <a:t>cumulative crates.io downloads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ED8458-6A51-C6A7-1FC4-DDA9AACA7E2C}"/>
              </a:ext>
            </a:extLst>
          </p:cNvPr>
          <p:cNvSpPr/>
          <p:nvPr/>
        </p:nvSpPr>
        <p:spPr>
          <a:xfrm>
            <a:off x="558800" y="3987800"/>
            <a:ext cx="11074400" cy="1854200"/>
          </a:xfrm>
          <a:prstGeom prst="roundRect">
            <a:avLst/>
          </a:prstGeom>
          <a:solidFill>
            <a:srgbClr val="10212D"/>
          </a:solidFill>
          <a:ln w="19050" cap="flat" cmpd="sng" algn="ctr">
            <a:solidFill>
              <a:srgbClr val="10212D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2520A4-76C9-629B-9690-5907CE6FD3FA}"/>
              </a:ext>
            </a:extLst>
          </p:cNvPr>
          <p:cNvSpPr txBox="1"/>
          <p:nvPr/>
        </p:nvSpPr>
        <p:spPr>
          <a:xfrm>
            <a:off x="838200" y="42799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D95F31"/>
                </a:solidFill>
                <a:latin typeface="Aptos" panose="020B0004020202020204" pitchFamily="34" charset="0"/>
              </a:rPr>
              <a:t>The strategic shift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DDA2FE-7ADB-258D-20DE-D6087CE7AD05}"/>
              </a:ext>
            </a:extLst>
          </p:cNvPr>
          <p:cNvSpPr txBox="1"/>
          <p:nvPr/>
        </p:nvSpPr>
        <p:spPr>
          <a:xfrm>
            <a:off x="838200" y="47498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 Display" panose="020B0004020202020204" pitchFamily="34" charset="0"/>
              </a:rPr>
              <a:t>Rust is no longer a bet on language popularity. It is becoming a durable systems, cloud, security, and application-platform capability.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426BA6-7292-195B-C9F4-B99206FDF395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Claims P-01 to P-04: MICROSOFT_RUST_CLAIM_LEDGER.md.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9A25AB-3E0F-1E20-E6A6-F99325D446A0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44431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F62D49-68A9-C663-646B-CD82C4DA3BBA}"/>
              </a:ext>
            </a:extLst>
          </p:cNvPr>
          <p:cNvSpPr txBox="1"/>
          <p:nvPr/>
        </p:nvSpPr>
        <p:spPr>
          <a:xfrm>
            <a:off x="558800" y="304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CE4A2B"/>
                </a:solidFill>
                <a:latin typeface="Aptos" panose="020B0004020202020204" pitchFamily="34" charset="0"/>
              </a:rPr>
              <a:t>SECURITY ECONOMICS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66329-A08F-D1A2-1807-EE2F54DDBB18}"/>
              </a:ext>
            </a:extLst>
          </p:cNvPr>
          <p:cNvSpPr txBox="1"/>
          <p:nvPr/>
        </p:nvSpPr>
        <p:spPr>
          <a:xfrm>
            <a:off x="558800" y="635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F2329"/>
                </a:solidFill>
                <a:latin typeface="Aptos Display" panose="020B0004020202020204" pitchFamily="34" charset="0"/>
              </a:rPr>
              <a:t>The conversion case is strongest when it is incremental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1DB16-387E-D159-7C69-29DAE8FD3E5C}"/>
              </a:ext>
            </a:extLst>
          </p:cNvPr>
          <p:cNvSpPr txBox="1"/>
          <p:nvPr/>
        </p:nvSpPr>
        <p:spPr>
          <a:xfrm>
            <a:off x="660400" y="1676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F2329"/>
                </a:solidFill>
                <a:latin typeface="Aptos" panose="020B0004020202020204" pitchFamily="34" charset="0"/>
              </a:rPr>
              <a:t>Android memory-safety vulnerabilities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39CE78-8273-32C1-B24B-095FC8BBEEDA}"/>
              </a:ext>
            </a:extLst>
          </p:cNvPr>
          <p:cNvSpPr/>
          <p:nvPr/>
        </p:nvSpPr>
        <p:spPr>
          <a:xfrm>
            <a:off x="660400" y="2260600"/>
            <a:ext cx="4699000" cy="685800"/>
          </a:xfrm>
          <a:prstGeom prst="roundRect">
            <a:avLst/>
          </a:prstGeom>
          <a:solidFill>
            <a:srgbClr val="C5CED8"/>
          </a:solidFill>
          <a:ln w="19050" cap="flat" cmpd="sng" algn="ctr">
            <a:solidFill>
              <a:srgbClr val="C5CED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C4B122-8435-AC47-F641-656C43AFCA10}"/>
              </a:ext>
            </a:extLst>
          </p:cNvPr>
          <p:cNvSpPr/>
          <p:nvPr/>
        </p:nvSpPr>
        <p:spPr>
          <a:xfrm>
            <a:off x="660400" y="2260600"/>
            <a:ext cx="3568700" cy="685800"/>
          </a:xfrm>
          <a:prstGeom prst="roundRect">
            <a:avLst/>
          </a:prstGeom>
          <a:solidFill>
            <a:srgbClr val="CE4A2B"/>
          </a:solidFill>
          <a:ln w="19050" cap="flat" cmpd="sng" algn="ctr">
            <a:solidFill>
              <a:srgbClr val="CE4A2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EEFD8-1788-4805-F84D-0B9EEBF6D987}"/>
              </a:ext>
            </a:extLst>
          </p:cNvPr>
          <p:cNvSpPr txBox="1"/>
          <p:nvPr/>
        </p:nvSpPr>
        <p:spPr>
          <a:xfrm>
            <a:off x="838200" y="23876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 Display" panose="020B0004020202020204" pitchFamily="34" charset="0"/>
              </a:rPr>
              <a:t>76%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26841-9C3F-1079-BE4B-943886400077}"/>
              </a:ext>
            </a:extLst>
          </p:cNvPr>
          <p:cNvSpPr txBox="1"/>
          <p:nvPr/>
        </p:nvSpPr>
        <p:spPr>
          <a:xfrm>
            <a:off x="4318000" y="24892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 b="1">
                <a:solidFill>
                  <a:srgbClr val="646C77"/>
                </a:solidFill>
                <a:latin typeface="Aptos" panose="020B0004020202020204" pitchFamily="34" charset="0"/>
              </a:rPr>
              <a:t>six years earlier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534113-21C4-87AC-B861-23EC42244252}"/>
              </a:ext>
            </a:extLst>
          </p:cNvPr>
          <p:cNvSpPr/>
          <p:nvPr/>
        </p:nvSpPr>
        <p:spPr>
          <a:xfrm>
            <a:off x="660400" y="3327400"/>
            <a:ext cx="4699000" cy="685800"/>
          </a:xfrm>
          <a:prstGeom prst="roundRect">
            <a:avLst/>
          </a:prstGeom>
          <a:solidFill>
            <a:srgbClr val="C5CED8"/>
          </a:solidFill>
          <a:ln w="19050" cap="flat" cmpd="sng" algn="ctr">
            <a:solidFill>
              <a:srgbClr val="C5CED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62D6A6-1C30-308F-5311-9949220C943C}"/>
              </a:ext>
            </a:extLst>
          </p:cNvPr>
          <p:cNvSpPr/>
          <p:nvPr/>
        </p:nvSpPr>
        <p:spPr>
          <a:xfrm>
            <a:off x="660400" y="3327400"/>
            <a:ext cx="1130300" cy="685800"/>
          </a:xfrm>
          <a:prstGeom prst="roundRect">
            <a:avLst/>
          </a:prstGeom>
          <a:solidFill>
            <a:srgbClr val="52B8C8"/>
          </a:solidFill>
          <a:ln w="19050" cap="flat" cmpd="sng" algn="ctr">
            <a:solidFill>
              <a:srgbClr val="52B8C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CE713-8F54-A180-2756-D4FB5A038378}"/>
              </a:ext>
            </a:extLst>
          </p:cNvPr>
          <p:cNvSpPr txBox="1"/>
          <p:nvPr/>
        </p:nvSpPr>
        <p:spPr>
          <a:xfrm>
            <a:off x="838200" y="34544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0212D"/>
                </a:solidFill>
                <a:latin typeface="Aptos Display" panose="020B0004020202020204" pitchFamily="34" charset="0"/>
              </a:rPr>
              <a:t>24%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BC2F5E-81BA-3EBC-60E5-018AAFE686D0}"/>
              </a:ext>
            </a:extLst>
          </p:cNvPr>
          <p:cNvSpPr txBox="1"/>
          <p:nvPr/>
        </p:nvSpPr>
        <p:spPr>
          <a:xfrm>
            <a:off x="4318000" y="35560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 b="1">
                <a:solidFill>
                  <a:srgbClr val="646C77"/>
                </a:solidFill>
                <a:latin typeface="Aptos" panose="020B0004020202020204" pitchFamily="34" charset="0"/>
              </a:rPr>
              <a:t>2024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F04796-A8D7-2E34-8939-B11A23F899B6}"/>
              </a:ext>
            </a:extLst>
          </p:cNvPr>
          <p:cNvSpPr/>
          <p:nvPr/>
        </p:nvSpPr>
        <p:spPr>
          <a:xfrm>
            <a:off x="6172200" y="1727200"/>
            <a:ext cx="5181600" cy="22860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3D88C-E5EE-503E-037C-511844FA67B2}"/>
              </a:ext>
            </a:extLst>
          </p:cNvPr>
          <p:cNvSpPr/>
          <p:nvPr/>
        </p:nvSpPr>
        <p:spPr>
          <a:xfrm>
            <a:off x="6172200" y="1727200"/>
            <a:ext cx="101600" cy="2286000"/>
          </a:xfrm>
          <a:prstGeom prst="rect">
            <a:avLst/>
          </a:prstGeom>
          <a:solidFill>
            <a:srgbClr val="52B8C8"/>
          </a:solidFill>
          <a:ln w="19050" cap="flat" cmpd="sng" algn="ctr">
            <a:solidFill>
              <a:srgbClr val="52B8C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E549DB-2AF0-BE14-9FD1-CD1E0A179C2F}"/>
              </a:ext>
            </a:extLst>
          </p:cNvPr>
          <p:cNvSpPr txBox="1"/>
          <p:nvPr/>
        </p:nvSpPr>
        <p:spPr>
          <a:xfrm>
            <a:off x="6451600" y="19304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F2329"/>
                </a:solidFill>
                <a:latin typeface="Aptos" panose="020B0004020202020204" pitchFamily="34" charset="0"/>
              </a:rPr>
              <a:t>Interoperability is the new rewrite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B04C6A-2575-33EE-6C89-893FE346D9D4}"/>
              </a:ext>
            </a:extLst>
          </p:cNvPr>
          <p:cNvSpPr txBox="1"/>
          <p:nvPr/>
        </p:nvSpPr>
        <p:spPr>
          <a:xfrm>
            <a:off x="6451600" y="23876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646C77"/>
                </a:solidFill>
                <a:latin typeface="Aptos" panose="020B0004020202020204" pitchFamily="34" charset="0"/>
              </a:rPr>
              <a:t>Prioritize memory-safe languages for new and actively changing code. Keep mature assets where rewrite economics are weak. Make boundaries safe, explicit, testable, and removable.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0A62435-8324-E9F0-374B-909A024A1598}"/>
              </a:ext>
            </a:extLst>
          </p:cNvPr>
          <p:cNvSpPr/>
          <p:nvPr/>
        </p:nvSpPr>
        <p:spPr>
          <a:xfrm>
            <a:off x="6172200" y="4292600"/>
            <a:ext cx="5181600" cy="15748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F22D0E-4F8B-DB48-4CDD-6A7566254277}"/>
              </a:ext>
            </a:extLst>
          </p:cNvPr>
          <p:cNvSpPr/>
          <p:nvPr/>
        </p:nvSpPr>
        <p:spPr>
          <a:xfrm>
            <a:off x="6172200" y="4292600"/>
            <a:ext cx="101600" cy="1574800"/>
          </a:xfrm>
          <a:prstGeom prst="rect">
            <a:avLst/>
          </a:prstGeom>
          <a:solidFill>
            <a:srgbClr val="D95F31"/>
          </a:solidFill>
          <a:ln w="19050" cap="flat" cmpd="sng" algn="ctr">
            <a:solidFill>
              <a:srgbClr val="D95F3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343AEE-D605-F7BC-6C2F-98FCB698E48C}"/>
              </a:ext>
            </a:extLst>
          </p:cNvPr>
          <p:cNvSpPr txBox="1"/>
          <p:nvPr/>
        </p:nvSpPr>
        <p:spPr>
          <a:xfrm>
            <a:off x="6451600" y="44958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F2329"/>
                </a:solidFill>
                <a:latin typeface="Aptos" panose="020B0004020202020204" pitchFamily="34" charset="0"/>
              </a:rPr>
              <a:t>A second operational signal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7C71A-8EAB-05CB-84F3-DD2F7B4C2C3F}"/>
              </a:ext>
            </a:extLst>
          </p:cNvPr>
          <p:cNvSpPr txBox="1"/>
          <p:nvPr/>
        </p:nvSpPr>
        <p:spPr>
          <a:xfrm>
            <a:off x="6451600" y="49530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646C77"/>
                </a:solidFill>
                <a:latin typeface="Aptos" panose="020B0004020202020204" pitchFamily="34" charset="0"/>
              </a:rPr>
              <a:t>Google reports the rollback rate of Rust changes at less than half the rate of C++ changes -- evidence that safety can improve developer operations, not only vulnerability counts.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6BC597-F037-F7A9-C2C3-C52161429F7A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Claims P-05 and P-06: MICROSOFT_RUST_CLAIM_LEDGER.md.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E40BEB-0918-030D-3C1C-958058CE6348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757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AD3D46-7ECC-7B57-ACC7-BE7C1A3AD007}"/>
              </a:ext>
            </a:extLst>
          </p:cNvPr>
          <p:cNvSpPr txBox="1"/>
          <p:nvPr/>
        </p:nvSpPr>
        <p:spPr>
          <a:xfrm>
            <a:off x="558800" y="304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CE4A2B"/>
                </a:solidFill>
                <a:latin typeface="Aptos" panose="020B0004020202020204" pitchFamily="34" charset="0"/>
              </a:rPr>
              <a:t>MICROSOFT SIGNALS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D1597-CA34-0383-E571-40CE3DF3E1FA}"/>
              </a:ext>
            </a:extLst>
          </p:cNvPr>
          <p:cNvSpPr txBox="1"/>
          <p:nvPr/>
        </p:nvSpPr>
        <p:spPr>
          <a:xfrm>
            <a:off x="558800" y="635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F2329"/>
                </a:solidFill>
                <a:latin typeface="Aptos Display" panose="020B0004020202020204" pitchFamily="34" charset="0"/>
              </a:rPr>
              <a:t>Microsoft is already moving -- coordination is the missing layer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D72D9E-8FD2-9E57-9461-1A397D64AC84}"/>
              </a:ext>
            </a:extLst>
          </p:cNvPr>
          <p:cNvSpPr/>
          <p:nvPr/>
        </p:nvSpPr>
        <p:spPr>
          <a:xfrm>
            <a:off x="660400" y="1600200"/>
            <a:ext cx="558800" cy="5588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BDEF32-6411-864E-B654-35BCE91F9B35}"/>
              </a:ext>
            </a:extLst>
          </p:cNvPr>
          <p:cNvSpPr txBox="1"/>
          <p:nvPr/>
        </p:nvSpPr>
        <p:spPr>
          <a:xfrm>
            <a:off x="825500" y="17145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9EBC70-D66A-F0DD-F1C8-59CE436B928F}"/>
              </a:ext>
            </a:extLst>
          </p:cNvPr>
          <p:cNvSpPr txBox="1"/>
          <p:nvPr/>
        </p:nvSpPr>
        <p:spPr>
          <a:xfrm>
            <a:off x="1473200" y="1587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CE4A2B"/>
                </a:solidFill>
                <a:latin typeface="Aptos" panose="020B0004020202020204" pitchFamily="34" charset="0"/>
              </a:rPr>
              <a:t>AZURE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171A5-5474-A209-E254-C5DACEED5F64}"/>
              </a:ext>
            </a:extLst>
          </p:cNvPr>
          <p:cNvSpPr txBox="1"/>
          <p:nvPr/>
        </p:nvSpPr>
        <p:spPr>
          <a:xfrm>
            <a:off x="1473200" y="19304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329"/>
                </a:solidFill>
                <a:latin typeface="Aptos" panose="020B0004020202020204" pitchFamily="34" charset="0"/>
              </a:rPr>
              <a:t>Rust adopted in critical infrastructure; Microsoft expects adoption to expand substantially.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F557C-ACC3-F627-BFE1-35F81F572F0A}"/>
              </a:ext>
            </a:extLst>
          </p:cNvPr>
          <p:cNvCxnSpPr/>
          <p:nvPr/>
        </p:nvCxnSpPr>
        <p:spPr>
          <a:xfrm>
            <a:off x="1473200" y="2501900"/>
            <a:ext cx="9906000" cy="0"/>
          </a:xfrm>
          <a:prstGeom prst="line">
            <a:avLst/>
          </a:prstGeom>
          <a:ln w="12700">
            <a:solidFill>
              <a:srgbClr val="C5C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73F4D26-C5D4-B9D2-C761-2D1C20C7AB12}"/>
              </a:ext>
            </a:extLst>
          </p:cNvPr>
          <p:cNvSpPr/>
          <p:nvPr/>
        </p:nvSpPr>
        <p:spPr>
          <a:xfrm>
            <a:off x="660400" y="2692400"/>
            <a:ext cx="558800" cy="558800"/>
          </a:xfrm>
          <a:prstGeom prst="ellipse">
            <a:avLst/>
          </a:prstGeom>
          <a:solidFill>
            <a:srgbClr val="52B8C8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9768-F377-A033-31B0-C97F096D25DF}"/>
              </a:ext>
            </a:extLst>
          </p:cNvPr>
          <p:cNvSpPr txBox="1"/>
          <p:nvPr/>
        </p:nvSpPr>
        <p:spPr>
          <a:xfrm>
            <a:off x="825500" y="28067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>
                <a:solidFill>
                  <a:srgbClr val="10212D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3B621-FE17-6CF5-E3AA-95D04C0A0F50}"/>
              </a:ext>
            </a:extLst>
          </p:cNvPr>
          <p:cNvSpPr txBox="1"/>
          <p:nvPr/>
        </p:nvSpPr>
        <p:spPr>
          <a:xfrm>
            <a:off x="1473200" y="26797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CE4A2B"/>
                </a:solidFill>
                <a:latin typeface="Aptos" panose="020B0004020202020204" pitchFamily="34" charset="0"/>
              </a:rPr>
              <a:t>SDK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9973A7-BBFF-1A13-D44C-CD0B7841C16A}"/>
              </a:ext>
            </a:extLst>
          </p:cNvPr>
          <p:cNvSpPr txBox="1"/>
          <p:nvPr/>
        </p:nvSpPr>
        <p:spPr>
          <a:xfrm>
            <a:off x="1473200" y="3022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329"/>
                </a:solidFill>
                <a:latin typeface="Aptos" panose="020B0004020202020204" pitchFamily="34" charset="0"/>
              </a:rPr>
              <a:t>Stable Azure SDK for Rust: core, identity, Key Vault, and Storage with SemVer guarantees.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A4CC18-30C1-961E-C068-6CBF231050B0}"/>
              </a:ext>
            </a:extLst>
          </p:cNvPr>
          <p:cNvCxnSpPr/>
          <p:nvPr/>
        </p:nvCxnSpPr>
        <p:spPr>
          <a:xfrm>
            <a:off x="1473200" y="3594100"/>
            <a:ext cx="9906000" cy="0"/>
          </a:xfrm>
          <a:prstGeom prst="line">
            <a:avLst/>
          </a:prstGeom>
          <a:ln w="12700">
            <a:solidFill>
              <a:srgbClr val="C5C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BD7D42E-98D0-6E1B-1900-0B055D400B2F}"/>
              </a:ext>
            </a:extLst>
          </p:cNvPr>
          <p:cNvSpPr/>
          <p:nvPr/>
        </p:nvSpPr>
        <p:spPr>
          <a:xfrm>
            <a:off x="660400" y="3784600"/>
            <a:ext cx="558800" cy="5588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834637-6AE9-F90D-5276-D753D3DAD3B3}"/>
              </a:ext>
            </a:extLst>
          </p:cNvPr>
          <p:cNvSpPr txBox="1"/>
          <p:nvPr/>
        </p:nvSpPr>
        <p:spPr>
          <a:xfrm>
            <a:off x="825500" y="38989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3B2694-C2E1-B9E8-9386-C03983541310}"/>
              </a:ext>
            </a:extLst>
          </p:cNvPr>
          <p:cNvSpPr txBox="1"/>
          <p:nvPr/>
        </p:nvSpPr>
        <p:spPr>
          <a:xfrm>
            <a:off x="1473200" y="3771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CE4A2B"/>
                </a:solidFill>
                <a:latin typeface="Aptos" panose="020B0004020202020204" pitchFamily="34" charset="0"/>
              </a:rPr>
              <a:t>SYSTEMS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47EC5C-97CA-E93C-B313-6EDE3234BB84}"/>
              </a:ext>
            </a:extLst>
          </p:cNvPr>
          <p:cNvSpPr txBox="1"/>
          <p:nvPr/>
        </p:nvSpPr>
        <p:spPr>
          <a:xfrm>
            <a:off x="1473200" y="41148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329"/>
                </a:solidFill>
                <a:latin typeface="Aptos" panose="020B0004020202020204" pitchFamily="34" charset="0"/>
              </a:rPr>
              <a:t>OpenVMM is a modular, cross-platform VMM written in Rust.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38A673-E7BE-80AF-2C49-3A0FBE488D46}"/>
              </a:ext>
            </a:extLst>
          </p:cNvPr>
          <p:cNvCxnSpPr/>
          <p:nvPr/>
        </p:nvCxnSpPr>
        <p:spPr>
          <a:xfrm>
            <a:off x="1473200" y="4686300"/>
            <a:ext cx="9906000" cy="0"/>
          </a:xfrm>
          <a:prstGeom prst="line">
            <a:avLst/>
          </a:prstGeom>
          <a:ln w="12700">
            <a:solidFill>
              <a:srgbClr val="C5C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74B1787-6524-0646-882D-B946105BE9F0}"/>
              </a:ext>
            </a:extLst>
          </p:cNvPr>
          <p:cNvSpPr/>
          <p:nvPr/>
        </p:nvSpPr>
        <p:spPr>
          <a:xfrm>
            <a:off x="660400" y="4876800"/>
            <a:ext cx="558800" cy="558800"/>
          </a:xfrm>
          <a:prstGeom prst="ellipse">
            <a:avLst/>
          </a:prstGeom>
          <a:solidFill>
            <a:srgbClr val="52B8C8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D2E4AD-AAEE-96DD-4A3C-D1525289E4B0}"/>
              </a:ext>
            </a:extLst>
          </p:cNvPr>
          <p:cNvSpPr txBox="1"/>
          <p:nvPr/>
        </p:nvSpPr>
        <p:spPr>
          <a:xfrm>
            <a:off x="825500" y="4991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>
                <a:solidFill>
                  <a:srgbClr val="10212D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993D27-2965-923D-4DD5-97FBA2F5274B}"/>
              </a:ext>
            </a:extLst>
          </p:cNvPr>
          <p:cNvSpPr txBox="1"/>
          <p:nvPr/>
        </p:nvSpPr>
        <p:spPr>
          <a:xfrm>
            <a:off x="1473200" y="48641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CE4A2B"/>
                </a:solidFill>
                <a:latin typeface="Aptos" panose="020B0004020202020204" pitchFamily="34" charset="0"/>
              </a:rPr>
              <a:t>FOUNDATION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012F17-2079-6DD6-4A93-34FAFD910D0A}"/>
              </a:ext>
            </a:extLst>
          </p:cNvPr>
          <p:cNvSpPr txBox="1"/>
          <p:nvPr/>
        </p:nvSpPr>
        <p:spPr>
          <a:xfrm>
            <a:off x="1473200" y="52070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329"/>
                </a:solidFill>
                <a:latin typeface="Aptos" panose="020B0004020202020204" pitchFamily="34" charset="0"/>
              </a:rPr>
              <a:t>Founding Platinum member since January 2021; an established channel for fair investment.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420C9-3149-C3EB-0A52-25ADC2A481DA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Claims M-01 to M-04: MICROSOFT_RUST_CLAIM_LEDGER.md.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C34D7B-6BA0-F168-9377-63323D79459A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904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99F18-E053-CED8-E46F-64896FD95C31}"/>
              </a:ext>
            </a:extLst>
          </p:cNvPr>
          <p:cNvSpPr txBox="1"/>
          <p:nvPr/>
        </p:nvSpPr>
        <p:spPr>
          <a:xfrm>
            <a:off x="558800" y="355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D95F31"/>
                </a:solidFill>
                <a:latin typeface="Aptos" panose="020B0004020202020204" pitchFamily="34" charset="0"/>
              </a:rPr>
              <a:t>THE RISK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24ACF5-0B5E-F704-5BBF-012D865C72AA}"/>
              </a:ext>
            </a:extLst>
          </p:cNvPr>
          <p:cNvSpPr txBox="1"/>
          <p:nvPr/>
        </p:nvSpPr>
        <p:spPr>
          <a:xfrm>
            <a:off x="558800" y="7366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ptos Display" panose="020B0004020202020204" pitchFamily="34" charset="0"/>
              </a:rPr>
              <a:t>Uncoordinated success becomes the next platform debt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E75150-DAA1-7E47-7384-BB758EAF150E}"/>
              </a:ext>
            </a:extLst>
          </p:cNvPr>
          <p:cNvSpPr/>
          <p:nvPr/>
        </p:nvSpPr>
        <p:spPr>
          <a:xfrm>
            <a:off x="558800" y="1752600"/>
            <a:ext cx="3429000" cy="15748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49E3A-922D-FC28-5630-3B74E03F5B5F}"/>
              </a:ext>
            </a:extLst>
          </p:cNvPr>
          <p:cNvSpPr txBox="1"/>
          <p:nvPr/>
        </p:nvSpPr>
        <p:spPr>
          <a:xfrm>
            <a:off x="787400" y="1981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D95F31"/>
                </a:solidFill>
                <a:latin typeface="Aptos" panose="020B0004020202020204" pitchFamily="34" charset="0"/>
              </a:rPr>
              <a:t>Crate divergence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3688E-F509-0E2A-0779-A7EFA92BE6D5}"/>
              </a:ext>
            </a:extLst>
          </p:cNvPr>
          <p:cNvSpPr txBox="1"/>
          <p:nvPr/>
        </p:nvSpPr>
        <p:spPr>
          <a:xfrm>
            <a:off x="787400" y="2413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Different stacks and providers for one capability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3D0EA8-556F-B7DA-039C-05EF6FC52E8D}"/>
              </a:ext>
            </a:extLst>
          </p:cNvPr>
          <p:cNvSpPr/>
          <p:nvPr/>
        </p:nvSpPr>
        <p:spPr>
          <a:xfrm>
            <a:off x="4318000" y="1752600"/>
            <a:ext cx="3429000" cy="15748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4861A4-E5D4-87A2-26FE-68D3C2706615}"/>
              </a:ext>
            </a:extLst>
          </p:cNvPr>
          <p:cNvSpPr txBox="1"/>
          <p:nvPr/>
        </p:nvSpPr>
        <p:spPr>
          <a:xfrm>
            <a:off x="4546600" y="1981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D95F31"/>
                </a:solidFill>
                <a:latin typeface="Aptos" panose="020B0004020202020204" pitchFamily="34" charset="0"/>
              </a:rPr>
              <a:t>Boundary drift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19180D-F792-A5EA-0BEE-D66E17D362B6}"/>
              </a:ext>
            </a:extLst>
          </p:cNvPr>
          <p:cNvSpPr txBox="1"/>
          <p:nvPr/>
        </p:nvSpPr>
        <p:spPr>
          <a:xfrm>
            <a:off x="4546600" y="2413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Ad hoc C++, C ABI, WIT, generated, and service contracts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EB27BD-F80F-9688-105E-0FB5C5A489E1}"/>
              </a:ext>
            </a:extLst>
          </p:cNvPr>
          <p:cNvSpPr/>
          <p:nvPr/>
        </p:nvSpPr>
        <p:spPr>
          <a:xfrm>
            <a:off x="8077200" y="1752600"/>
            <a:ext cx="3429000" cy="15748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CDBFD-8F9A-3A9D-EAEB-6128C3135D9C}"/>
              </a:ext>
            </a:extLst>
          </p:cNvPr>
          <p:cNvSpPr txBox="1"/>
          <p:nvPr/>
        </p:nvSpPr>
        <p:spPr>
          <a:xfrm>
            <a:off x="8305800" y="1981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D95F31"/>
                </a:solidFill>
                <a:latin typeface="Aptos" panose="020B0004020202020204" pitchFamily="34" charset="0"/>
              </a:rPr>
              <a:t>Support ambiguity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460993-3C63-B0A7-1399-722B0A011322}"/>
              </a:ext>
            </a:extLst>
          </p:cNvPr>
          <p:cNvSpPr txBox="1"/>
          <p:nvPr/>
        </p:nvSpPr>
        <p:spPr>
          <a:xfrm>
            <a:off x="8305800" y="2413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Versions, targets, owners, and renewal dates disappear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F12F46-8A65-BF3A-D5FB-AD5B64C79EF1}"/>
              </a:ext>
            </a:extLst>
          </p:cNvPr>
          <p:cNvSpPr/>
          <p:nvPr/>
        </p:nvSpPr>
        <p:spPr>
          <a:xfrm>
            <a:off x="558800" y="3657600"/>
            <a:ext cx="3429000" cy="15748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2C3C6F-44FA-BB93-CCC7-8283F70FFC5D}"/>
              </a:ext>
            </a:extLst>
          </p:cNvPr>
          <p:cNvSpPr txBox="1"/>
          <p:nvPr/>
        </p:nvSpPr>
        <p:spPr>
          <a:xfrm>
            <a:off x="787400" y="3886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D95F31"/>
                </a:solidFill>
                <a:latin typeface="Aptos" panose="020B0004020202020204" pitchFamily="34" charset="0"/>
              </a:rPr>
              <a:t>AI without context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0EAC77-7AD8-5561-BFA7-EF9D04EB23F5}"/>
              </a:ext>
            </a:extLst>
          </p:cNvPr>
          <p:cNvSpPr txBox="1"/>
          <p:nvPr/>
        </p:nvSpPr>
        <p:spPr>
          <a:xfrm>
            <a:off x="787400" y="431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Generated native changes lack application scope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5DCB528-9544-A6E6-B54D-6C2B842F7CCB}"/>
              </a:ext>
            </a:extLst>
          </p:cNvPr>
          <p:cNvSpPr/>
          <p:nvPr/>
        </p:nvSpPr>
        <p:spPr>
          <a:xfrm>
            <a:off x="4318000" y="3657600"/>
            <a:ext cx="3429000" cy="15748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0A65DF-EB22-652D-DFF4-FA5DDDB8460C}"/>
              </a:ext>
            </a:extLst>
          </p:cNvPr>
          <p:cNvSpPr txBox="1"/>
          <p:nvPr/>
        </p:nvSpPr>
        <p:spPr>
          <a:xfrm>
            <a:off x="4546600" y="3886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D95F31"/>
                </a:solidFill>
                <a:latin typeface="Aptos" panose="020B0004020202020204" pitchFamily="34" charset="0"/>
              </a:rPr>
              <a:t>Local-only CI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198161-78DF-DFC5-9942-1AF790A53264}"/>
              </a:ext>
            </a:extLst>
          </p:cNvPr>
          <p:cNvSpPr txBox="1"/>
          <p:nvPr/>
        </p:nvSpPr>
        <p:spPr>
          <a:xfrm>
            <a:off x="4546600" y="431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Workspaces pass while application impact remains unknown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942D1E-C063-9DAE-3C85-4673D94FFD5A}"/>
              </a:ext>
            </a:extLst>
          </p:cNvPr>
          <p:cNvSpPr/>
          <p:nvPr/>
        </p:nvSpPr>
        <p:spPr>
          <a:xfrm>
            <a:off x="8077200" y="3657600"/>
            <a:ext cx="3429000" cy="15748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F300D5-142E-9414-7AF2-259B9D14DF7E}"/>
              </a:ext>
            </a:extLst>
          </p:cNvPr>
          <p:cNvSpPr txBox="1"/>
          <p:nvPr/>
        </p:nvSpPr>
        <p:spPr>
          <a:xfrm>
            <a:off x="8305800" y="3886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D95F31"/>
                </a:solidFill>
                <a:latin typeface="Aptos" panose="020B0004020202020204" pitchFamily="34" charset="0"/>
              </a:rPr>
              <a:t>No exit path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434565-8130-70A5-2801-8B745F71E0F3}"/>
              </a:ext>
            </a:extLst>
          </p:cNvPr>
          <p:cNvSpPr txBox="1"/>
          <p:nvPr/>
        </p:nvSpPr>
        <p:spPr>
          <a:xfrm>
            <a:off x="8305800" y="431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Migration omits fallback, rollback, substitution, and removal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77E817-959A-95C4-CA5D-F35DF4D920BA}"/>
              </a:ext>
            </a:extLst>
          </p:cNvPr>
          <p:cNvSpPr txBox="1"/>
          <p:nvPr/>
        </p:nvSpPr>
        <p:spPr>
          <a:xfrm>
            <a:off x="558800" y="59436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52B8C8"/>
                </a:solidFill>
                <a:latin typeface="Aptos" panose="020B0004020202020204" pitchFamily="34" charset="0"/>
              </a:rPr>
              <a:t>Cargo owns package truth. Microsoft still needs an application and portfolio layer.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E74F43-6A72-18B6-53B4-9D5253ABC2FC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Ferris demonstrates this layer without replacing Cargo, required CI, or owner authority.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336AF0-C9C6-610C-C366-6CC26BEF759A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36413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EB9C59-3E23-FCE8-6DB6-9A1871E6A7A7}"/>
              </a:ext>
            </a:extLst>
          </p:cNvPr>
          <p:cNvSpPr txBox="1"/>
          <p:nvPr/>
        </p:nvSpPr>
        <p:spPr>
          <a:xfrm>
            <a:off x="558800" y="304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CE4A2B"/>
                </a:solidFill>
                <a:latin typeface="Aptos" panose="020B0004020202020204" pitchFamily="34" charset="0"/>
              </a:rPr>
              <a:t>CURRENT PRODUCT PROOF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A521C-80E5-E094-862F-403E5DCBDB73}"/>
              </a:ext>
            </a:extLst>
          </p:cNvPr>
          <p:cNvSpPr txBox="1"/>
          <p:nvPr/>
        </p:nvSpPr>
        <p:spPr>
          <a:xfrm>
            <a:off x="558800" y="635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F2329"/>
                </a:solidFill>
                <a:latin typeface="Aptos Display" panose="020B0004020202020204" pitchFamily="34" charset="0"/>
              </a:rPr>
              <a:t>Ferris now executes approved owner work and records evidence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45BC4B-F8CE-4880-0BB9-A2AFE6EC2A8C}"/>
              </a:ext>
            </a:extLst>
          </p:cNvPr>
          <p:cNvSpPr/>
          <p:nvPr/>
        </p:nvSpPr>
        <p:spPr>
          <a:xfrm>
            <a:off x="660400" y="1676400"/>
            <a:ext cx="5207000" cy="14224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4E17D-E9B6-FAF3-20FF-3E1B710B656D}"/>
              </a:ext>
            </a:extLst>
          </p:cNvPr>
          <p:cNvSpPr/>
          <p:nvPr/>
        </p:nvSpPr>
        <p:spPr>
          <a:xfrm>
            <a:off x="660400" y="1676400"/>
            <a:ext cx="101600" cy="1422400"/>
          </a:xfrm>
          <a:prstGeom prst="rect">
            <a:avLst/>
          </a:prstGeom>
          <a:solidFill>
            <a:srgbClr val="CE4A2B"/>
          </a:solidFill>
          <a:ln w="19050" cap="flat" cmpd="sng" algn="ctr">
            <a:solidFill>
              <a:srgbClr val="CE4A2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1F907-8637-CA44-B4F1-4609E4FB35E1}"/>
              </a:ext>
            </a:extLst>
          </p:cNvPr>
          <p:cNvSpPr txBox="1"/>
          <p:nvPr/>
        </p:nvSpPr>
        <p:spPr>
          <a:xfrm>
            <a:off x="939800" y="18796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F2329"/>
                </a:solidFill>
                <a:latin typeface="Aptos" panose="020B0004020202020204" pitchFamily="34" charset="0"/>
              </a:rPr>
              <a:t>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C1B3B-DF57-3BD5-FFCA-F55C1D799C06}"/>
              </a:ext>
            </a:extLst>
          </p:cNvPr>
          <p:cNvSpPr txBox="1"/>
          <p:nvPr/>
        </p:nvSpPr>
        <p:spPr>
          <a:xfrm>
            <a:off x="939800" y="23368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646C77"/>
                </a:solidFill>
                <a:latin typeface="Aptos" panose="020B0004020202020204" pitchFamily="34" charset="0"/>
              </a:rPr>
              <a:t>Cargo-native planning preserves owner declarations and widens unknown inputs safely.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1A5555-4398-38DD-1F6A-86407685AC0B}"/>
              </a:ext>
            </a:extLst>
          </p:cNvPr>
          <p:cNvSpPr/>
          <p:nvPr/>
        </p:nvSpPr>
        <p:spPr>
          <a:xfrm>
            <a:off x="6223000" y="1676400"/>
            <a:ext cx="5207000" cy="14224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76CE3F-3B52-C2AC-A702-67812F7505B4}"/>
              </a:ext>
            </a:extLst>
          </p:cNvPr>
          <p:cNvSpPr/>
          <p:nvPr/>
        </p:nvSpPr>
        <p:spPr>
          <a:xfrm>
            <a:off x="6223000" y="1676400"/>
            <a:ext cx="101600" cy="1422400"/>
          </a:xfrm>
          <a:prstGeom prst="rect">
            <a:avLst/>
          </a:prstGeom>
          <a:solidFill>
            <a:srgbClr val="CE4A2B"/>
          </a:solidFill>
          <a:ln w="19050" cap="flat" cmpd="sng" algn="ctr">
            <a:solidFill>
              <a:srgbClr val="CE4A2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55EA2-F944-99B2-67C7-8A997BBAF326}"/>
              </a:ext>
            </a:extLst>
          </p:cNvPr>
          <p:cNvSpPr txBox="1"/>
          <p:nvPr/>
        </p:nvSpPr>
        <p:spPr>
          <a:xfrm>
            <a:off x="6502400" y="18796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F2329"/>
                </a:solidFill>
                <a:latin typeface="Aptos" panose="020B0004020202020204" pitchFamily="34" charset="0"/>
              </a:rPr>
              <a:t>EXECUTE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919D13-A759-A670-D516-99C5FEE69002}"/>
              </a:ext>
            </a:extLst>
          </p:cNvPr>
          <p:cNvSpPr txBox="1"/>
          <p:nvPr/>
        </p:nvSpPr>
        <p:spPr>
          <a:xfrm>
            <a:off x="6502400" y="23368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646C77"/>
                </a:solidFill>
                <a:latin typeface="Aptos" panose="020B0004020202020204" pitchFamily="34" charset="0"/>
              </a:rPr>
              <a:t>Approved Action Plans launch only exact repository-owned commands.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AD1421-5207-D576-D239-0F0EF1EC90C8}"/>
              </a:ext>
            </a:extLst>
          </p:cNvPr>
          <p:cNvSpPr/>
          <p:nvPr/>
        </p:nvSpPr>
        <p:spPr>
          <a:xfrm>
            <a:off x="660400" y="3429000"/>
            <a:ext cx="5207000" cy="14224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BB5BD-8873-9EEA-A00C-5A9E26E6F9CC}"/>
              </a:ext>
            </a:extLst>
          </p:cNvPr>
          <p:cNvSpPr/>
          <p:nvPr/>
        </p:nvSpPr>
        <p:spPr>
          <a:xfrm>
            <a:off x="660400" y="3429000"/>
            <a:ext cx="101600" cy="1422400"/>
          </a:xfrm>
          <a:prstGeom prst="rect">
            <a:avLst/>
          </a:prstGeom>
          <a:solidFill>
            <a:srgbClr val="52B8C8"/>
          </a:solidFill>
          <a:ln w="19050" cap="flat" cmpd="sng" algn="ctr">
            <a:solidFill>
              <a:srgbClr val="52B8C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B2E654-63E5-D2A5-6D70-5BBD912E7251}"/>
              </a:ext>
            </a:extLst>
          </p:cNvPr>
          <p:cNvSpPr txBox="1"/>
          <p:nvPr/>
        </p:nvSpPr>
        <p:spPr>
          <a:xfrm>
            <a:off x="939800" y="3632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F2329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6F8F5-DF7E-DB9E-68B1-6130B9B7F232}"/>
              </a:ext>
            </a:extLst>
          </p:cNvPr>
          <p:cNvSpPr txBox="1"/>
          <p:nvPr/>
        </p:nvSpPr>
        <p:spPr>
          <a:xfrm>
            <a:off x="939800" y="40894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646C77"/>
                </a:solidFill>
                <a:latin typeface="Aptos" panose="020B0004020202020204" pitchFamily="34" charset="0"/>
              </a:rPr>
              <a:t>Receipts preserve direct and transitive blockers across verification and replay.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2FFABF-B62E-D22A-8EF4-88E414EF5533}"/>
              </a:ext>
            </a:extLst>
          </p:cNvPr>
          <p:cNvSpPr/>
          <p:nvPr/>
        </p:nvSpPr>
        <p:spPr>
          <a:xfrm>
            <a:off x="6223000" y="3429000"/>
            <a:ext cx="5207000" cy="14224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766080-A954-B029-1600-77EC21C9763F}"/>
              </a:ext>
            </a:extLst>
          </p:cNvPr>
          <p:cNvSpPr/>
          <p:nvPr/>
        </p:nvSpPr>
        <p:spPr>
          <a:xfrm>
            <a:off x="6223000" y="3429000"/>
            <a:ext cx="101600" cy="1422400"/>
          </a:xfrm>
          <a:prstGeom prst="rect">
            <a:avLst/>
          </a:prstGeom>
          <a:solidFill>
            <a:srgbClr val="CE4A2B"/>
          </a:solidFill>
          <a:ln w="19050" cap="flat" cmpd="sng" algn="ctr">
            <a:solidFill>
              <a:srgbClr val="CE4A2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6352F8-83D0-8FF4-B4EA-71ABB7582CB9}"/>
              </a:ext>
            </a:extLst>
          </p:cNvPr>
          <p:cNvSpPr txBox="1"/>
          <p:nvPr/>
        </p:nvSpPr>
        <p:spPr>
          <a:xfrm>
            <a:off x="6502400" y="3632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F2329"/>
                </a:solidFill>
                <a:latin typeface="Aptos" panose="020B0004020202020204" pitchFamily="34" charset="0"/>
              </a:rPr>
              <a:t>PREFLIGHT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37A0D-849D-EB04-F3C0-94E75D9CEAD4}"/>
              </a:ext>
            </a:extLst>
          </p:cNvPr>
          <p:cNvSpPr txBox="1"/>
          <p:nvPr/>
        </p:nvSpPr>
        <p:spPr>
          <a:xfrm>
            <a:off x="6502400" y="40894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646C77"/>
                </a:solidFill>
                <a:latin typeface="Aptos" panose="020B0004020202020204" pitchFamily="34" charset="0"/>
              </a:rPr>
              <a:t>Workspace and application readiness identify missing requirements before owner work.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491E9F-815B-751D-9881-802AD90B81B3}"/>
              </a:ext>
            </a:extLst>
          </p:cNvPr>
          <p:cNvSpPr/>
          <p:nvPr/>
        </p:nvSpPr>
        <p:spPr>
          <a:xfrm>
            <a:off x="660400" y="5359400"/>
            <a:ext cx="10769600" cy="609600"/>
          </a:xfrm>
          <a:prstGeom prst="roundRect">
            <a:avLst/>
          </a:prstGeom>
          <a:solidFill>
            <a:srgbClr val="10212D"/>
          </a:solidFill>
          <a:ln w="19050" cap="flat" cmpd="sng" algn="ctr">
            <a:solidFill>
              <a:srgbClr val="10212D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E0B5A5-9EF3-F885-BC50-A81C291FBA99}"/>
              </a:ext>
            </a:extLst>
          </p:cNvPr>
          <p:cNvSpPr txBox="1"/>
          <p:nvPr/>
        </p:nvSpPr>
        <p:spPr>
          <a:xfrm>
            <a:off x="965200" y="55245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 Display" panose="020B0004020202020204" pitchFamily="34" charset="0"/>
              </a:rPr>
              <a:t>Owner commands remain authoritative. Ferris does not remove or replace required CI gates.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77D0C4-C070-3B94-1139-122A3E3C86BC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Claims F-03 and F-04: MICROSOFT_RUST_CLAIM_LEDGER.md. No production support claim.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85A761-FAD7-546F-DE0F-E85BFF820767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1525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C1C85D-8898-529E-962C-C4A28028BBE1}"/>
              </a:ext>
            </a:extLst>
          </p:cNvPr>
          <p:cNvSpPr txBox="1"/>
          <p:nvPr/>
        </p:nvSpPr>
        <p:spPr>
          <a:xfrm>
            <a:off x="558800" y="304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CE4A2B"/>
                </a:solidFill>
                <a:latin typeface="Aptos" panose="020B0004020202020204" pitchFamily="34" charset="0"/>
              </a:rPr>
              <a:t>FUTURE WORKFLOW, NOT IMPLEMENTED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9373E-182E-9879-2DE7-F7130C8BEC86}"/>
              </a:ext>
            </a:extLst>
          </p:cNvPr>
          <p:cNvSpPr txBox="1"/>
          <p:nvPr/>
        </p:nvSpPr>
        <p:spPr>
          <a:xfrm>
            <a:off x="558800" y="635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F2329"/>
                </a:solidFill>
                <a:latin typeface="Aptos Display" panose="020B0004020202020204" pitchFamily="34" charset="0"/>
              </a:rPr>
              <a:t>Target Copilot workflow for governed native change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52D45E-28A8-4D06-D3F1-FB7EA5BEE6EB}"/>
              </a:ext>
            </a:extLst>
          </p:cNvPr>
          <p:cNvSpPr/>
          <p:nvPr/>
        </p:nvSpPr>
        <p:spPr>
          <a:xfrm>
            <a:off x="1143000" y="1993900"/>
            <a:ext cx="711200" cy="7112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70015-CD48-44D8-77B6-94DF94D060B1}"/>
              </a:ext>
            </a:extLst>
          </p:cNvPr>
          <p:cNvSpPr txBox="1"/>
          <p:nvPr/>
        </p:nvSpPr>
        <p:spPr>
          <a:xfrm>
            <a:off x="1384300" y="2197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7E1D5F-C977-F11E-A94E-17FB1586F263}"/>
              </a:ext>
            </a:extLst>
          </p:cNvPr>
          <p:cNvCxnSpPr/>
          <p:nvPr/>
        </p:nvCxnSpPr>
        <p:spPr>
          <a:xfrm>
            <a:off x="1866900" y="2349500"/>
            <a:ext cx="609600" cy="0"/>
          </a:xfrm>
          <a:prstGeom prst="line">
            <a:avLst/>
          </a:prstGeom>
          <a:ln w="38100">
            <a:solidFill>
              <a:srgbClr val="D95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AED434-5691-3502-D3F2-EC9BD198A34B}"/>
              </a:ext>
            </a:extLst>
          </p:cNvPr>
          <p:cNvSpPr txBox="1"/>
          <p:nvPr/>
        </p:nvSpPr>
        <p:spPr>
          <a:xfrm>
            <a:off x="609600" y="29464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1F2329"/>
                </a:solidFill>
                <a:latin typeface="Aptos" panose="020B0004020202020204" pitchFamily="34" charset="0"/>
              </a:rPr>
              <a:t>Discover application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E838CF-181F-8AE6-0F61-D40F08023A3D}"/>
              </a:ext>
            </a:extLst>
          </p:cNvPr>
          <p:cNvSpPr/>
          <p:nvPr/>
        </p:nvSpPr>
        <p:spPr>
          <a:xfrm>
            <a:off x="3035300" y="1993900"/>
            <a:ext cx="711200" cy="7112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35E61-56A1-3988-8584-F01C7ABDE773}"/>
              </a:ext>
            </a:extLst>
          </p:cNvPr>
          <p:cNvSpPr txBox="1"/>
          <p:nvPr/>
        </p:nvSpPr>
        <p:spPr>
          <a:xfrm>
            <a:off x="3276600" y="2197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4C4BB4-82DA-ABE9-D5BE-FDECC7444FC0}"/>
              </a:ext>
            </a:extLst>
          </p:cNvPr>
          <p:cNvCxnSpPr/>
          <p:nvPr/>
        </p:nvCxnSpPr>
        <p:spPr>
          <a:xfrm>
            <a:off x="3759200" y="2349500"/>
            <a:ext cx="609600" cy="0"/>
          </a:xfrm>
          <a:prstGeom prst="line">
            <a:avLst/>
          </a:prstGeom>
          <a:ln w="38100">
            <a:solidFill>
              <a:srgbClr val="D95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8C7D5C6-BD5A-4B04-FCA5-6CE558B48819}"/>
              </a:ext>
            </a:extLst>
          </p:cNvPr>
          <p:cNvSpPr txBox="1"/>
          <p:nvPr/>
        </p:nvSpPr>
        <p:spPr>
          <a:xfrm>
            <a:off x="2501900" y="29464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1F2329"/>
                </a:solidFill>
                <a:latin typeface="Aptos" panose="020B0004020202020204" pitchFamily="34" charset="0"/>
              </a:rPr>
              <a:t>Plan affected work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846F97-6673-89DE-FD6C-3DCCCB5403C0}"/>
              </a:ext>
            </a:extLst>
          </p:cNvPr>
          <p:cNvSpPr/>
          <p:nvPr/>
        </p:nvSpPr>
        <p:spPr>
          <a:xfrm>
            <a:off x="4927600" y="1993900"/>
            <a:ext cx="711200" cy="7112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D3574-3069-59A1-0FD0-D01E293C2C5B}"/>
              </a:ext>
            </a:extLst>
          </p:cNvPr>
          <p:cNvSpPr txBox="1"/>
          <p:nvPr/>
        </p:nvSpPr>
        <p:spPr>
          <a:xfrm>
            <a:off x="5168900" y="2197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A88B72-07B4-AF8B-1698-77A035EB4375}"/>
              </a:ext>
            </a:extLst>
          </p:cNvPr>
          <p:cNvCxnSpPr/>
          <p:nvPr/>
        </p:nvCxnSpPr>
        <p:spPr>
          <a:xfrm>
            <a:off x="5651500" y="2349500"/>
            <a:ext cx="609600" cy="0"/>
          </a:xfrm>
          <a:prstGeom prst="line">
            <a:avLst/>
          </a:prstGeom>
          <a:ln w="38100">
            <a:solidFill>
              <a:srgbClr val="D95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3C4735-953B-D7DA-E698-7B7CD7F06347}"/>
              </a:ext>
            </a:extLst>
          </p:cNvPr>
          <p:cNvSpPr txBox="1"/>
          <p:nvPr/>
        </p:nvSpPr>
        <p:spPr>
          <a:xfrm>
            <a:off x="4394200" y="29464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1F2329"/>
                </a:solidFill>
                <a:latin typeface="Aptos" panose="020B0004020202020204" pitchFamily="34" charset="0"/>
              </a:rPr>
              <a:t>Generate in scope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326D4DA-3E05-50C8-B4F0-BFC642664E55}"/>
              </a:ext>
            </a:extLst>
          </p:cNvPr>
          <p:cNvSpPr/>
          <p:nvPr/>
        </p:nvSpPr>
        <p:spPr>
          <a:xfrm>
            <a:off x="6819900" y="1993900"/>
            <a:ext cx="711200" cy="7112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F5CF6C-D7DE-6718-CDF6-EAB0DF080898}"/>
              </a:ext>
            </a:extLst>
          </p:cNvPr>
          <p:cNvSpPr txBox="1"/>
          <p:nvPr/>
        </p:nvSpPr>
        <p:spPr>
          <a:xfrm>
            <a:off x="7061200" y="2197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A5848B-8A2B-F7D7-FC48-830462FD8D71}"/>
              </a:ext>
            </a:extLst>
          </p:cNvPr>
          <p:cNvCxnSpPr/>
          <p:nvPr/>
        </p:nvCxnSpPr>
        <p:spPr>
          <a:xfrm>
            <a:off x="7543800" y="2349500"/>
            <a:ext cx="609600" cy="0"/>
          </a:xfrm>
          <a:prstGeom prst="line">
            <a:avLst/>
          </a:prstGeom>
          <a:ln w="38100">
            <a:solidFill>
              <a:srgbClr val="D95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9C3ECB7-C8FB-1936-CAC2-A59045B0D9AA}"/>
              </a:ext>
            </a:extLst>
          </p:cNvPr>
          <p:cNvSpPr txBox="1"/>
          <p:nvPr/>
        </p:nvSpPr>
        <p:spPr>
          <a:xfrm>
            <a:off x="6286500" y="29464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1F2329"/>
                </a:solidFill>
                <a:latin typeface="Aptos" panose="020B0004020202020204" pitchFamily="34" charset="0"/>
              </a:rPr>
              <a:t>Compile + validate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A10591-6AC4-5271-2634-A83B1985BA61}"/>
              </a:ext>
            </a:extLst>
          </p:cNvPr>
          <p:cNvSpPr/>
          <p:nvPr/>
        </p:nvSpPr>
        <p:spPr>
          <a:xfrm>
            <a:off x="8712200" y="1993900"/>
            <a:ext cx="711200" cy="7112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9965BB-1D4C-8831-378E-2F20535205A0}"/>
              </a:ext>
            </a:extLst>
          </p:cNvPr>
          <p:cNvSpPr txBox="1"/>
          <p:nvPr/>
        </p:nvSpPr>
        <p:spPr>
          <a:xfrm>
            <a:off x="8953500" y="2197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5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803EB03-BDF1-152B-142A-DC28EFB8FBBC}"/>
              </a:ext>
            </a:extLst>
          </p:cNvPr>
          <p:cNvCxnSpPr/>
          <p:nvPr/>
        </p:nvCxnSpPr>
        <p:spPr>
          <a:xfrm>
            <a:off x="9436100" y="2349500"/>
            <a:ext cx="609600" cy="0"/>
          </a:xfrm>
          <a:prstGeom prst="line">
            <a:avLst/>
          </a:prstGeom>
          <a:ln w="38100">
            <a:solidFill>
              <a:srgbClr val="D95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947491D-C3E5-DA6B-7924-86C349BB6840}"/>
              </a:ext>
            </a:extLst>
          </p:cNvPr>
          <p:cNvSpPr txBox="1"/>
          <p:nvPr/>
        </p:nvSpPr>
        <p:spPr>
          <a:xfrm>
            <a:off x="8178800" y="29464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1F2329"/>
                </a:solidFill>
                <a:latin typeface="Aptos" panose="020B0004020202020204" pitchFamily="34" charset="0"/>
              </a:rPr>
              <a:t>Attach evidence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683C9E0-6151-E5D7-141D-E697B4BE0E95}"/>
              </a:ext>
            </a:extLst>
          </p:cNvPr>
          <p:cNvSpPr/>
          <p:nvPr/>
        </p:nvSpPr>
        <p:spPr>
          <a:xfrm>
            <a:off x="10604500" y="1993900"/>
            <a:ext cx="711200" cy="711200"/>
          </a:xfrm>
          <a:prstGeom prst="ellipse">
            <a:avLst/>
          </a:prstGeom>
          <a:solidFill>
            <a:srgbClr val="52B8C8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09AE7D-16FA-BE81-908C-B40B1F4FE139}"/>
              </a:ext>
            </a:extLst>
          </p:cNvPr>
          <p:cNvSpPr txBox="1"/>
          <p:nvPr/>
        </p:nvSpPr>
        <p:spPr>
          <a:xfrm>
            <a:off x="10845800" y="2197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10212D"/>
                </a:solidFill>
                <a:latin typeface="Aptos Display" panose="020B0004020202020204" pitchFamily="34" charset="0"/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B2C573-B8CE-3C3C-27AD-D59B6FA240AC}"/>
              </a:ext>
            </a:extLst>
          </p:cNvPr>
          <p:cNvSpPr txBox="1"/>
          <p:nvPr/>
        </p:nvSpPr>
        <p:spPr>
          <a:xfrm>
            <a:off x="10071100" y="29464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1F2329"/>
                </a:solidFill>
                <a:latin typeface="Aptos" panose="020B0004020202020204" pitchFamily="34" charset="0"/>
              </a:rPr>
              <a:t>Human approval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37420E-3D58-80CD-4B42-87E2621B89CF}"/>
              </a:ext>
            </a:extLst>
          </p:cNvPr>
          <p:cNvSpPr/>
          <p:nvPr/>
        </p:nvSpPr>
        <p:spPr>
          <a:xfrm>
            <a:off x="1270000" y="4064000"/>
            <a:ext cx="9652000" cy="1346200"/>
          </a:xfrm>
          <a:prstGeom prst="roundRect">
            <a:avLst/>
          </a:prstGeom>
          <a:solidFill>
            <a:srgbClr val="10212D"/>
          </a:solidFill>
          <a:ln w="19050" cap="flat" cmpd="sng" algn="ctr">
            <a:solidFill>
              <a:srgbClr val="10212D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CEDA69-EC76-0DB3-022E-569FE9EF0241}"/>
              </a:ext>
            </a:extLst>
          </p:cNvPr>
          <p:cNvSpPr txBox="1"/>
          <p:nvPr/>
        </p:nvSpPr>
        <p:spPr>
          <a:xfrm>
            <a:off x="1676400" y="4343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D95F31"/>
                </a:solidFill>
                <a:latin typeface="Aptos" panose="020B0004020202020204" pitchFamily="34" charset="0"/>
              </a:rPr>
              <a:t>The opportunity is governed native change.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53418B-B00D-546B-52C4-75DE780EF206}"/>
              </a:ext>
            </a:extLst>
          </p:cNvPr>
          <p:cNvSpPr txBox="1"/>
          <p:nvPr/>
        </p:nvSpPr>
        <p:spPr>
          <a:xfrm>
            <a:off x="1676400" y="48006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 Display" panose="020B0004020202020204" pitchFamily="34" charset="0"/>
              </a:rPr>
              <a:t>Record revision, model action, commands, results, and human approval.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756A2-494D-EAEB-5B48-AB3A18434E0F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Target only. Ferris has no GitHub, Azure, Copilot, or MCP integration today.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933B76-D679-FFBB-9C6F-288EA72BEA6D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02796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524970-2502-E6DE-8E1E-8FACFDE0C905}"/>
              </a:ext>
            </a:extLst>
          </p:cNvPr>
          <p:cNvSpPr txBox="1"/>
          <p:nvPr/>
        </p:nvSpPr>
        <p:spPr>
          <a:xfrm>
            <a:off x="558800" y="304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CE4A2B"/>
                </a:solidFill>
                <a:latin typeface="Aptos" panose="020B0004020202020204" pitchFamily="34" charset="0"/>
              </a:rPr>
              <a:t>WHERE MICROSOFT PLAYS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E04FB-285C-1C4E-4829-99C6573BA7E6}"/>
              </a:ext>
            </a:extLst>
          </p:cNvPr>
          <p:cNvSpPr txBox="1"/>
          <p:nvPr/>
        </p:nvSpPr>
        <p:spPr>
          <a:xfrm>
            <a:off x="558800" y="635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F2329"/>
                </a:solidFill>
                <a:latin typeface="Aptos Display" panose="020B0004020202020204" pitchFamily="34" charset="0"/>
              </a:rPr>
              <a:t>Invest in two portfolios -- and keep the boundary explicit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F0D811-535F-0BFB-C209-89FCF146D5D5}"/>
              </a:ext>
            </a:extLst>
          </p:cNvPr>
          <p:cNvSpPr/>
          <p:nvPr/>
        </p:nvSpPr>
        <p:spPr>
          <a:xfrm>
            <a:off x="558800" y="1625600"/>
            <a:ext cx="5232400" cy="4013200"/>
          </a:xfrm>
          <a:prstGeom prst="roundRect">
            <a:avLst/>
          </a:prstGeom>
          <a:solidFill>
            <a:srgbClr val="E8F1F7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57B317-EE1A-B1B6-58A1-1E75BC29DA80}"/>
              </a:ext>
            </a:extLst>
          </p:cNvPr>
          <p:cNvSpPr/>
          <p:nvPr/>
        </p:nvSpPr>
        <p:spPr>
          <a:xfrm>
            <a:off x="6400800" y="1625600"/>
            <a:ext cx="5232400" cy="4013200"/>
          </a:xfrm>
          <a:prstGeom prst="roundRect">
            <a:avLst/>
          </a:prstGeom>
          <a:solidFill>
            <a:srgbClr val="F3F2EA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FC996-8736-4EEE-8FC2-D5BBF5176C97}"/>
              </a:ext>
            </a:extLst>
          </p:cNvPr>
          <p:cNvSpPr txBox="1"/>
          <p:nvPr/>
        </p:nvSpPr>
        <p:spPr>
          <a:xfrm>
            <a:off x="889000" y="1955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CE4A2B"/>
                </a:solidFill>
                <a:latin typeface="Aptos" panose="020B0004020202020204" pitchFamily="34" charset="0"/>
              </a:rPr>
              <a:t>UPSTREAM PUBLIC GOOD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DAB4D-343E-9A68-DAC5-698DAE6BD0BA}"/>
              </a:ext>
            </a:extLst>
          </p:cNvPr>
          <p:cNvSpPr txBox="1"/>
          <p:nvPr/>
        </p:nvSpPr>
        <p:spPr>
          <a:xfrm>
            <a:off x="889000" y="2362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646C77"/>
                </a:solidFill>
                <a:latin typeface="Aptos" panose="020B0004020202020204" pitchFamily="34" charset="0"/>
              </a:rPr>
              <a:t>Earn trust through existing owners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DC656D-C35F-8D94-F87C-247C9A8B968F}"/>
              </a:ext>
            </a:extLst>
          </p:cNvPr>
          <p:cNvSpPr txBox="1"/>
          <p:nvPr/>
        </p:nvSpPr>
        <p:spPr>
          <a:xfrm>
            <a:off x="889000" y="2921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F2329"/>
                </a:solidFill>
                <a:latin typeface="Aptos" panose="020B0004020202020204" pitchFamily="34" charset="0"/>
              </a:rPr>
              <a:t>rustc + Cargo performance
Windows target, linker + debugger
Interop patterns + conformance
Supply chain + trusted publishing
Critical crate stewardship
Async diagnostics + WIT
Public AI assurance fixtures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99F08-5836-AA74-D689-BA421FCA62B9}"/>
              </a:ext>
            </a:extLst>
          </p:cNvPr>
          <p:cNvSpPr txBox="1"/>
          <p:nvPr/>
        </p:nvSpPr>
        <p:spPr>
          <a:xfrm>
            <a:off x="6731000" y="1955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52B8C8"/>
                </a:solidFill>
                <a:latin typeface="Aptos" panose="020B0004020202020204" pitchFamily="34" charset="0"/>
              </a:rPr>
              <a:t>MICROSOFT DIFFERENTIATION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517B3-AE89-7F32-E2BF-3E2F1942A0A5}"/>
              </a:ext>
            </a:extLst>
          </p:cNvPr>
          <p:cNvSpPr txBox="1"/>
          <p:nvPr/>
        </p:nvSpPr>
        <p:spPr>
          <a:xfrm>
            <a:off x="6731000" y="2362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646C77"/>
                </a:solidFill>
                <a:latin typeface="Aptos" panose="020B0004020202020204" pitchFamily="34" charset="0"/>
              </a:rPr>
              <a:t>Build where Microsoft has asymmetric assets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D8E8B5-287B-4CAE-24A5-0EA5348A1CC9}"/>
              </a:ext>
            </a:extLst>
          </p:cNvPr>
          <p:cNvSpPr txBox="1"/>
          <p:nvPr/>
        </p:nvSpPr>
        <p:spPr>
          <a:xfrm>
            <a:off x="6731000" y="2921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F2329"/>
                </a:solidFill>
                <a:latin typeface="Aptos" panose="020B0004020202020204" pitchFamily="34" charset="0"/>
              </a:rPr>
              <a:t>GitHub Rust estate intelligence
Copilot governed native change
Azure build + provenance plane
Windows enterprise Rust excellence
Renewable application profiles
Cross-repository affected work
Entra / Key Vault / policy connectors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34C04-F767-9EB2-9B8B-4D432AB7CBBC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Rule: shared language infrastructure upstream; portable application governance plus Microsoft integrations in product.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1FE720-8B5B-C19A-4AC9-5BB2761E5685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4342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C748D-AE5B-8CE1-E6AD-FC3DEB9851D7}"/>
              </a:ext>
            </a:extLst>
          </p:cNvPr>
          <p:cNvSpPr txBox="1"/>
          <p:nvPr/>
        </p:nvSpPr>
        <p:spPr>
          <a:xfrm>
            <a:off x="558800" y="304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CE4A2B"/>
                </a:solidFill>
                <a:latin typeface="Aptos" panose="020B0004020202020204" pitchFamily="34" charset="0"/>
              </a:rPr>
              <a:t>UPSTREAM STEWARDSHIP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AE6C67-3510-9AFC-6543-E138F3876D35}"/>
              </a:ext>
            </a:extLst>
          </p:cNvPr>
          <p:cNvSpPr txBox="1"/>
          <p:nvPr/>
        </p:nvSpPr>
        <p:spPr>
          <a:xfrm>
            <a:off x="558800" y="635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F2329"/>
                </a:solidFill>
                <a:latin typeface="Aptos Display" panose="020B0004020202020204" pitchFamily="34" charset="0"/>
              </a:rPr>
              <a:t>Microsoft can earn durable community credit by funding the hard middle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09DA09-7AE6-6CF8-D74B-4ADE175A9132}"/>
              </a:ext>
            </a:extLst>
          </p:cNvPr>
          <p:cNvSpPr/>
          <p:nvPr/>
        </p:nvSpPr>
        <p:spPr>
          <a:xfrm>
            <a:off x="685800" y="1574800"/>
            <a:ext cx="1905000" cy="635000"/>
          </a:xfrm>
          <a:prstGeom prst="roundRect">
            <a:avLst/>
          </a:prstGeom>
          <a:solidFill>
            <a:srgbClr val="10212D"/>
          </a:solidFill>
          <a:ln w="19050" cap="flat" cmpd="sng" algn="ctr">
            <a:solidFill>
              <a:srgbClr val="10212D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2D906-4960-B345-F680-C87EC7DFCC61}"/>
              </a:ext>
            </a:extLst>
          </p:cNvPr>
          <p:cNvSpPr txBox="1"/>
          <p:nvPr/>
        </p:nvSpPr>
        <p:spPr>
          <a:xfrm>
            <a:off x="914400" y="1752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Measure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5491F-33A0-9834-36D0-266B71F0814C}"/>
              </a:ext>
            </a:extLst>
          </p:cNvPr>
          <p:cNvSpPr txBox="1"/>
          <p:nvPr/>
        </p:nvSpPr>
        <p:spPr>
          <a:xfrm>
            <a:off x="3022600" y="17145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329"/>
                </a:solidFill>
                <a:latin typeface="Aptos" panose="020B0004020202020204" pitchFamily="34" charset="0"/>
              </a:rPr>
              <a:t>Benchmarks, minimized regressions, cross-platform fixtures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FB152C-CEAE-D0D7-0A51-8D648FBFA960}"/>
              </a:ext>
            </a:extLst>
          </p:cNvPr>
          <p:cNvSpPr/>
          <p:nvPr/>
        </p:nvSpPr>
        <p:spPr>
          <a:xfrm>
            <a:off x="685800" y="2463800"/>
            <a:ext cx="1905000" cy="635000"/>
          </a:xfrm>
          <a:prstGeom prst="roundRect">
            <a:avLst/>
          </a:prstGeom>
          <a:solidFill>
            <a:srgbClr val="10212D"/>
          </a:solidFill>
          <a:ln w="19050" cap="flat" cmpd="sng" algn="ctr">
            <a:solidFill>
              <a:srgbClr val="10212D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6F315-0B5F-5C5E-152C-B0ED96834445}"/>
              </a:ext>
            </a:extLst>
          </p:cNvPr>
          <p:cNvSpPr txBox="1"/>
          <p:nvPr/>
        </p:nvSpPr>
        <p:spPr>
          <a:xfrm>
            <a:off x="914400" y="2641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Align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989ACF-5639-6051-4177-B40E9C7DBE43}"/>
              </a:ext>
            </a:extLst>
          </p:cNvPr>
          <p:cNvSpPr txBox="1"/>
          <p:nvPr/>
        </p:nvSpPr>
        <p:spPr>
          <a:xfrm>
            <a:off x="3022600" y="26035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329"/>
                </a:solidFill>
                <a:latin typeface="Aptos" panose="020B0004020202020204" pitchFamily="34" charset="0"/>
              </a:rPr>
              <a:t>Ask maintainers where evidence and implementation belong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48C982-00DD-4F51-B42B-8C714EE6DE09}"/>
              </a:ext>
            </a:extLst>
          </p:cNvPr>
          <p:cNvSpPr/>
          <p:nvPr/>
        </p:nvSpPr>
        <p:spPr>
          <a:xfrm>
            <a:off x="685800" y="3352800"/>
            <a:ext cx="1905000" cy="635000"/>
          </a:xfrm>
          <a:prstGeom prst="roundRect">
            <a:avLst/>
          </a:prstGeom>
          <a:solidFill>
            <a:srgbClr val="CE4A2B"/>
          </a:solidFill>
          <a:ln w="19050" cap="flat" cmpd="sng" algn="ctr">
            <a:solidFill>
              <a:srgbClr val="CE4A2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23707-BCCC-9E30-75FD-AF73AB061131}"/>
              </a:ext>
            </a:extLst>
          </p:cNvPr>
          <p:cNvSpPr txBox="1"/>
          <p:nvPr/>
        </p:nvSpPr>
        <p:spPr>
          <a:xfrm>
            <a:off x="914400" y="3530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Contribute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4C3FE-E661-1B41-55B3-C3C4368A8604}"/>
              </a:ext>
            </a:extLst>
          </p:cNvPr>
          <p:cNvSpPr txBox="1"/>
          <p:nvPr/>
        </p:nvSpPr>
        <p:spPr>
          <a:xfrm>
            <a:off x="3022600" y="34925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329"/>
                </a:solidFill>
                <a:latin typeface="Aptos" panose="020B0004020202020204" pitchFamily="34" charset="0"/>
              </a:rPr>
              <a:t>Tests, patches, documentation, review and infrastructure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396716-6481-1FB0-3A42-108AB35B279C}"/>
              </a:ext>
            </a:extLst>
          </p:cNvPr>
          <p:cNvSpPr/>
          <p:nvPr/>
        </p:nvSpPr>
        <p:spPr>
          <a:xfrm>
            <a:off x="685800" y="4241800"/>
            <a:ext cx="1905000" cy="635000"/>
          </a:xfrm>
          <a:prstGeom prst="roundRect">
            <a:avLst/>
          </a:prstGeom>
          <a:solidFill>
            <a:srgbClr val="10212D"/>
          </a:solidFill>
          <a:ln w="19050" cap="flat" cmpd="sng" algn="ctr">
            <a:solidFill>
              <a:srgbClr val="10212D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84513B-9C53-5A89-681B-42C295EAC3B8}"/>
              </a:ext>
            </a:extLst>
          </p:cNvPr>
          <p:cNvSpPr txBox="1"/>
          <p:nvPr/>
        </p:nvSpPr>
        <p:spPr>
          <a:xfrm>
            <a:off x="914400" y="4419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Maintain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4B8DA3-2B93-B6B5-8E68-38A16D5CF222}"/>
              </a:ext>
            </a:extLst>
          </p:cNvPr>
          <p:cNvSpPr txBox="1"/>
          <p:nvPr/>
        </p:nvSpPr>
        <p:spPr>
          <a:xfrm>
            <a:off x="3022600" y="43815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329"/>
                </a:solidFill>
                <a:latin typeface="Aptos" panose="020B0004020202020204" pitchFamily="34" charset="0"/>
              </a:rPr>
              <a:t>Fund releases, triage, compatibility, and succession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97BE8C-DA67-8490-B5F8-5F75D3742487}"/>
              </a:ext>
            </a:extLst>
          </p:cNvPr>
          <p:cNvSpPr/>
          <p:nvPr/>
        </p:nvSpPr>
        <p:spPr>
          <a:xfrm>
            <a:off x="685800" y="5130800"/>
            <a:ext cx="1905000" cy="635000"/>
          </a:xfrm>
          <a:prstGeom prst="roundRect">
            <a:avLst/>
          </a:prstGeom>
          <a:solidFill>
            <a:srgbClr val="10212D"/>
          </a:solidFill>
          <a:ln w="19050" cap="flat" cmpd="sng" algn="ctr">
            <a:solidFill>
              <a:srgbClr val="10212D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13CDF6-68A8-2260-84FD-C98A741E4EEE}"/>
              </a:ext>
            </a:extLst>
          </p:cNvPr>
          <p:cNvSpPr txBox="1"/>
          <p:nvPr/>
        </p:nvSpPr>
        <p:spPr>
          <a:xfrm>
            <a:off x="914400" y="5308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Retire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EA9CA3-2EE3-5B79-11A1-FA8F332B066A}"/>
              </a:ext>
            </a:extLst>
          </p:cNvPr>
          <p:cNvSpPr txBox="1"/>
          <p:nvPr/>
        </p:nvSpPr>
        <p:spPr>
          <a:xfrm>
            <a:off x="3022600" y="52705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329"/>
                </a:solidFill>
                <a:latin typeface="Aptos" panose="020B0004020202020204" pitchFamily="34" charset="0"/>
              </a:rPr>
              <a:t>Remove downstream work when upstream or consumer need changes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5E8F01-C9D6-5ABC-3787-6825F428FAC0}"/>
              </a:ext>
            </a:extLst>
          </p:cNvPr>
          <p:cNvSpPr txBox="1"/>
          <p:nvPr/>
        </p:nvSpPr>
        <p:spPr>
          <a:xfrm>
            <a:off x="685800" y="58674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CE4A2B"/>
                </a:solidFill>
                <a:latin typeface="Aptos Display" panose="020B0004020202020204" pitchFamily="34" charset="0"/>
              </a:rPr>
              <a:t>Success = accepted, maintained, broadly useful upstream outcomes -- not a Microsoft-owned fork.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1AE342-29D9-129E-8A87-A390CEDF5F58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Candidate areas only. Select after maintainer alignment, a named consumer, and a build-versus-contribute review.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CE46C3-F526-A24F-CC6D-AED78F0993BD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4103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E2DF23-7601-8FA1-8324-CD584644F90D}"/>
              </a:ext>
            </a:extLst>
          </p:cNvPr>
          <p:cNvSpPr txBox="1"/>
          <p:nvPr/>
        </p:nvSpPr>
        <p:spPr>
          <a:xfrm>
            <a:off x="558800" y="304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CE4A2B"/>
                </a:solidFill>
                <a:latin typeface="Aptos" panose="020B0004020202020204" pitchFamily="34" charset="0"/>
              </a:rPr>
              <a:t>CURRENT GATE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96C9C-84ED-0303-903E-F53C152BE530}"/>
              </a:ext>
            </a:extLst>
          </p:cNvPr>
          <p:cNvSpPr txBox="1"/>
          <p:nvPr/>
        </p:nvSpPr>
        <p:spPr>
          <a:xfrm>
            <a:off x="558800" y="635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F2329"/>
                </a:solidFill>
                <a:latin typeface="Aptos Display" panose="020B0004020202020204" pitchFamily="34" charset="0"/>
              </a:rPr>
              <a:t>One enterprise gate passed; measured value remains the blocker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3748DB-E1AD-0F5D-4A06-122BEEAE691F}"/>
              </a:ext>
            </a:extLst>
          </p:cNvPr>
          <p:cNvSpPr/>
          <p:nvPr/>
        </p:nvSpPr>
        <p:spPr>
          <a:xfrm>
            <a:off x="660400" y="1651000"/>
            <a:ext cx="3429000" cy="838200"/>
          </a:xfrm>
          <a:prstGeom prst="roundRect">
            <a:avLst/>
          </a:prstGeom>
          <a:solidFill>
            <a:srgbClr val="E8F1F7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9B3CF56-F68C-C1EF-6355-63D34E17502A}"/>
              </a:ext>
            </a:extLst>
          </p:cNvPr>
          <p:cNvSpPr/>
          <p:nvPr/>
        </p:nvSpPr>
        <p:spPr>
          <a:xfrm>
            <a:off x="863600" y="1841500"/>
            <a:ext cx="431800" cy="431800"/>
          </a:xfrm>
          <a:prstGeom prst="ellipse">
            <a:avLst/>
          </a:prstGeom>
          <a:solidFill>
            <a:srgbClr val="52B8C8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6D2D2A-547D-45B0-989A-86FC7B73DD7F}"/>
              </a:ext>
            </a:extLst>
          </p:cNvPr>
          <p:cNvSpPr txBox="1"/>
          <p:nvPr/>
        </p:nvSpPr>
        <p:spPr>
          <a:xfrm>
            <a:off x="914400" y="19304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10212D"/>
                </a:solidFill>
                <a:latin typeface="Aptos Display" panose="020B0004020202020204" pitchFamily="34" charset="0"/>
              </a:rPr>
              <a:t>OK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843F9-1C6A-8F81-C825-42079786D0F8}"/>
              </a:ext>
            </a:extLst>
          </p:cNvPr>
          <p:cNvSpPr txBox="1"/>
          <p:nvPr/>
        </p:nvSpPr>
        <p:spPr>
          <a:xfrm>
            <a:off x="1447800" y="17780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CE4A2B"/>
                </a:solidFill>
                <a:latin typeface="Aptos" panose="020B0004020202020204" pitchFamily="34" charset="0"/>
              </a:rPr>
              <a:t>PASSED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B5CEF3-208C-B30E-7AA4-58E158BFDB84}"/>
              </a:ext>
            </a:extLst>
          </p:cNvPr>
          <p:cNvSpPr txBox="1"/>
          <p:nvPr/>
        </p:nvSpPr>
        <p:spPr>
          <a:xfrm>
            <a:off x="1447800" y="20193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F2329"/>
                </a:solidFill>
                <a:latin typeface="Aptos" panose="020B0004020202020204" pitchFamily="34" charset="0"/>
              </a:rPr>
              <a:t>Gate 1: onboarding + removal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8200E5-CB28-C188-86E7-18116FDE28B9}"/>
              </a:ext>
            </a:extLst>
          </p:cNvPr>
          <p:cNvSpPr/>
          <p:nvPr/>
        </p:nvSpPr>
        <p:spPr>
          <a:xfrm>
            <a:off x="4419600" y="1651000"/>
            <a:ext cx="3429000" cy="838200"/>
          </a:xfrm>
          <a:prstGeom prst="roundRect">
            <a:avLst/>
          </a:prstGeom>
          <a:solidFill>
            <a:srgbClr val="E8F1F7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4E8FE5-1C8C-2E2B-BE08-2DED049F6830}"/>
              </a:ext>
            </a:extLst>
          </p:cNvPr>
          <p:cNvSpPr/>
          <p:nvPr/>
        </p:nvSpPr>
        <p:spPr>
          <a:xfrm>
            <a:off x="4622800" y="1841500"/>
            <a:ext cx="431800" cy="431800"/>
          </a:xfrm>
          <a:prstGeom prst="ellipse">
            <a:avLst/>
          </a:prstGeom>
          <a:solidFill>
            <a:srgbClr val="52B8C8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2D408-B236-E1DF-ACB2-618D553C5B8C}"/>
              </a:ext>
            </a:extLst>
          </p:cNvPr>
          <p:cNvSpPr txBox="1"/>
          <p:nvPr/>
        </p:nvSpPr>
        <p:spPr>
          <a:xfrm>
            <a:off x="4673600" y="19304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10212D"/>
                </a:solidFill>
                <a:latin typeface="Aptos Display" panose="020B0004020202020204" pitchFamily="34" charset="0"/>
              </a:rPr>
              <a:t>OK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AA4E08-805E-0676-FCDC-F2B745CBB01C}"/>
              </a:ext>
            </a:extLst>
          </p:cNvPr>
          <p:cNvSpPr txBox="1"/>
          <p:nvPr/>
        </p:nvSpPr>
        <p:spPr>
          <a:xfrm>
            <a:off x="5207000" y="17780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CE4A2B"/>
                </a:solidFill>
                <a:latin typeface="Aptos" panose="020B0004020202020204" pitchFamily="34" charset="0"/>
              </a:rPr>
              <a:t>PROOF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EADB20-B29D-3CC0-977D-85ECFBFEFD14}"/>
              </a:ext>
            </a:extLst>
          </p:cNvPr>
          <p:cNvSpPr txBox="1"/>
          <p:nvPr/>
        </p:nvSpPr>
        <p:spPr>
          <a:xfrm>
            <a:off x="5207000" y="20193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F2329"/>
                </a:solidFill>
                <a:latin typeface="Aptos" panose="020B0004020202020204" pitchFamily="34" charset="0"/>
              </a:rPr>
              <a:t>Windows/Linux owner execution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5D6500-60F0-7444-6B8F-AB9F56E77201}"/>
              </a:ext>
            </a:extLst>
          </p:cNvPr>
          <p:cNvSpPr/>
          <p:nvPr/>
        </p:nvSpPr>
        <p:spPr>
          <a:xfrm>
            <a:off x="8178800" y="1651000"/>
            <a:ext cx="3429000" cy="838200"/>
          </a:xfrm>
          <a:prstGeom prst="roundRect">
            <a:avLst/>
          </a:prstGeom>
          <a:solidFill>
            <a:srgbClr val="E8F1F7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E14314-A3B9-39C3-67C8-30C1F9236FBD}"/>
              </a:ext>
            </a:extLst>
          </p:cNvPr>
          <p:cNvSpPr/>
          <p:nvPr/>
        </p:nvSpPr>
        <p:spPr>
          <a:xfrm>
            <a:off x="8382000" y="1841500"/>
            <a:ext cx="431800" cy="431800"/>
          </a:xfrm>
          <a:prstGeom prst="ellipse">
            <a:avLst/>
          </a:prstGeom>
          <a:solidFill>
            <a:srgbClr val="52B8C8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8865CB-C123-640F-04EE-05E719461570}"/>
              </a:ext>
            </a:extLst>
          </p:cNvPr>
          <p:cNvSpPr txBox="1"/>
          <p:nvPr/>
        </p:nvSpPr>
        <p:spPr>
          <a:xfrm>
            <a:off x="8432800" y="19304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10212D"/>
                </a:solidFill>
                <a:latin typeface="Aptos Display" panose="020B0004020202020204" pitchFamily="34" charset="0"/>
              </a:rPr>
              <a:t>OK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7D32E-DADD-245F-B9F9-6E68E7EE065B}"/>
              </a:ext>
            </a:extLst>
          </p:cNvPr>
          <p:cNvSpPr txBox="1"/>
          <p:nvPr/>
        </p:nvSpPr>
        <p:spPr>
          <a:xfrm>
            <a:off x="8966200" y="17780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CE4A2B"/>
                </a:solidFill>
                <a:latin typeface="Aptos" panose="020B0004020202020204" pitchFamily="34" charset="0"/>
              </a:rPr>
              <a:t>PROOF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76826-9251-25A3-50D6-09CB2C8F73F8}"/>
              </a:ext>
            </a:extLst>
          </p:cNvPr>
          <p:cNvSpPr txBox="1"/>
          <p:nvPr/>
        </p:nvSpPr>
        <p:spPr>
          <a:xfrm>
            <a:off x="8966200" y="20193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F2329"/>
                </a:solidFill>
                <a:latin typeface="Aptos" panose="020B0004020202020204" pitchFamily="34" charset="0"/>
              </a:rPr>
              <a:t>Receipts + clean post-removal runs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58D97C-3CE1-8B6D-A9C4-B3B71616C13D}"/>
              </a:ext>
            </a:extLst>
          </p:cNvPr>
          <p:cNvSpPr/>
          <p:nvPr/>
        </p:nvSpPr>
        <p:spPr>
          <a:xfrm>
            <a:off x="660400" y="2768600"/>
            <a:ext cx="3429000" cy="838200"/>
          </a:xfrm>
          <a:prstGeom prst="roundRect">
            <a:avLst/>
          </a:prstGeom>
          <a:solidFill>
            <a:srgbClr val="E8F1F7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F1F34B-6FCD-ED11-1631-7F8DC0541705}"/>
              </a:ext>
            </a:extLst>
          </p:cNvPr>
          <p:cNvSpPr/>
          <p:nvPr/>
        </p:nvSpPr>
        <p:spPr>
          <a:xfrm>
            <a:off x="863600" y="2959100"/>
            <a:ext cx="431800" cy="4318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775483-AC8B-2EF5-8144-156BB745F023}"/>
              </a:ext>
            </a:extLst>
          </p:cNvPr>
          <p:cNvSpPr txBox="1"/>
          <p:nvPr/>
        </p:nvSpPr>
        <p:spPr>
          <a:xfrm>
            <a:off x="914400" y="30480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10212D"/>
                </a:solidFill>
                <a:latin typeface="Aptos Display" panose="020B0004020202020204" pitchFamily="34" charset="0"/>
              </a:rPr>
              <a:t>NO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E7A285-C4BA-80F7-5B24-5B794D0300BB}"/>
              </a:ext>
            </a:extLst>
          </p:cNvPr>
          <p:cNvSpPr txBox="1"/>
          <p:nvPr/>
        </p:nvSpPr>
        <p:spPr>
          <a:xfrm>
            <a:off x="1447800" y="2895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CE4A2B"/>
                </a:solidFill>
                <a:latin typeface="Aptos" panose="020B0004020202020204" pitchFamily="34" charset="0"/>
              </a:rPr>
              <a:t>BLOCKED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ACE30F-8892-8030-1689-BE49804B6125}"/>
              </a:ext>
            </a:extLst>
          </p:cNvPr>
          <p:cNvSpPr txBox="1"/>
          <p:nvPr/>
        </p:nvSpPr>
        <p:spPr>
          <a:xfrm>
            <a:off x="1447800" y="3136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F2329"/>
                </a:solidFill>
                <a:latin typeface="Aptos" panose="020B0004020202020204" pitchFamily="34" charset="0"/>
              </a:rPr>
              <a:t>Gate 2: measured value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27BFA7-552C-9C03-FB3B-BEDF7C433F03}"/>
              </a:ext>
            </a:extLst>
          </p:cNvPr>
          <p:cNvSpPr/>
          <p:nvPr/>
        </p:nvSpPr>
        <p:spPr>
          <a:xfrm>
            <a:off x="4419600" y="2768600"/>
            <a:ext cx="3429000" cy="838200"/>
          </a:xfrm>
          <a:prstGeom prst="roundRect">
            <a:avLst/>
          </a:prstGeom>
          <a:solidFill>
            <a:srgbClr val="E8F1F7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19A96B1-7ED7-AF50-6A55-F66F57148C86}"/>
              </a:ext>
            </a:extLst>
          </p:cNvPr>
          <p:cNvSpPr/>
          <p:nvPr/>
        </p:nvSpPr>
        <p:spPr>
          <a:xfrm>
            <a:off x="4622800" y="2959100"/>
            <a:ext cx="431800" cy="4318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8ABD7D-CBF4-09E0-9384-D7D0DF1DBB7C}"/>
              </a:ext>
            </a:extLst>
          </p:cNvPr>
          <p:cNvSpPr txBox="1"/>
          <p:nvPr/>
        </p:nvSpPr>
        <p:spPr>
          <a:xfrm>
            <a:off x="4673600" y="30480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10212D"/>
                </a:solidFill>
                <a:latin typeface="Aptos Display" panose="020B0004020202020204" pitchFamily="34" charset="0"/>
              </a:rPr>
              <a:t>--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E60A21-EA8A-759E-8A8E-037DB894ED56}"/>
              </a:ext>
            </a:extLst>
          </p:cNvPr>
          <p:cNvSpPr txBox="1"/>
          <p:nvPr/>
        </p:nvSpPr>
        <p:spPr>
          <a:xfrm>
            <a:off x="5207000" y="2895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CE4A2B"/>
                </a:solidFill>
                <a:latin typeface="Aptos" panose="020B0004020202020204" pitchFamily="34" charset="0"/>
              </a:rPr>
              <a:t>WAITING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C40A57-4B5E-A7EC-9F5A-61B7AAE6839D}"/>
              </a:ext>
            </a:extLst>
          </p:cNvPr>
          <p:cNvSpPr txBox="1"/>
          <p:nvPr/>
        </p:nvSpPr>
        <p:spPr>
          <a:xfrm>
            <a:off x="5207000" y="3136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F2329"/>
                </a:solidFill>
                <a:latin typeface="Aptos" panose="020B0004020202020204" pitchFamily="34" charset="0"/>
              </a:rPr>
              <a:t>Gate 3: advisory CI shadow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A2879DE-BFBC-1A2E-0A4A-79CECABADBEA}"/>
              </a:ext>
            </a:extLst>
          </p:cNvPr>
          <p:cNvSpPr/>
          <p:nvPr/>
        </p:nvSpPr>
        <p:spPr>
          <a:xfrm>
            <a:off x="8178800" y="2768600"/>
            <a:ext cx="3429000" cy="838200"/>
          </a:xfrm>
          <a:prstGeom prst="roundRect">
            <a:avLst/>
          </a:prstGeom>
          <a:solidFill>
            <a:srgbClr val="E8F1F7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C531C2-28D2-29FF-6B1A-5324D0173DE0}"/>
              </a:ext>
            </a:extLst>
          </p:cNvPr>
          <p:cNvSpPr/>
          <p:nvPr/>
        </p:nvSpPr>
        <p:spPr>
          <a:xfrm>
            <a:off x="8382000" y="2959100"/>
            <a:ext cx="431800" cy="431800"/>
          </a:xfrm>
          <a:prstGeom prst="ellipse">
            <a:avLst/>
          </a:prstGeom>
          <a:solidFill>
            <a:srgbClr val="CE4A2B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76212F-AF22-917C-B55F-9D6F398848D9}"/>
              </a:ext>
            </a:extLst>
          </p:cNvPr>
          <p:cNvSpPr txBox="1"/>
          <p:nvPr/>
        </p:nvSpPr>
        <p:spPr>
          <a:xfrm>
            <a:off x="8432800" y="30480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10212D"/>
                </a:solidFill>
                <a:latin typeface="Aptos Display" panose="020B0004020202020204" pitchFamily="34" charset="0"/>
              </a:rPr>
              <a:t>--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6BF02D-23AF-B7BC-D847-B0AE2B65D9DC}"/>
              </a:ext>
            </a:extLst>
          </p:cNvPr>
          <p:cNvSpPr txBox="1"/>
          <p:nvPr/>
        </p:nvSpPr>
        <p:spPr>
          <a:xfrm>
            <a:off x="8966200" y="2895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CE4A2B"/>
                </a:solidFill>
                <a:latin typeface="Aptos" panose="020B0004020202020204" pitchFamily="34" charset="0"/>
              </a:rPr>
              <a:t>WAITING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350F3D-A251-2745-E238-2DBB350FDC85}"/>
              </a:ext>
            </a:extLst>
          </p:cNvPr>
          <p:cNvSpPr txBox="1"/>
          <p:nvPr/>
        </p:nvSpPr>
        <p:spPr>
          <a:xfrm>
            <a:off x="8966200" y="3136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F2329"/>
                </a:solidFill>
                <a:latin typeface="Aptos" panose="020B0004020202020204" pitchFamily="34" charset="0"/>
              </a:rPr>
              <a:t>Gate 4: support boundary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B56ECCE-65AC-0877-FADD-8FF43F702870}"/>
              </a:ext>
            </a:extLst>
          </p:cNvPr>
          <p:cNvSpPr/>
          <p:nvPr/>
        </p:nvSpPr>
        <p:spPr>
          <a:xfrm>
            <a:off x="660400" y="4241800"/>
            <a:ext cx="10947400" cy="1473200"/>
          </a:xfrm>
          <a:prstGeom prst="roundRect">
            <a:avLst/>
          </a:prstGeom>
          <a:solidFill>
            <a:srgbClr val="10212D"/>
          </a:solidFill>
          <a:ln w="19050" cap="flat" cmpd="sng" algn="ctr">
            <a:solidFill>
              <a:srgbClr val="10212D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B951B1-6F99-09D1-8B58-FA3AD4AF95D7}"/>
              </a:ext>
            </a:extLst>
          </p:cNvPr>
          <p:cNvSpPr txBox="1"/>
          <p:nvPr/>
        </p:nvSpPr>
        <p:spPr>
          <a:xfrm>
            <a:off x="990600" y="4470400"/>
            <a:ext cx="1026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900" b="1">
                <a:solidFill>
                  <a:srgbClr val="FFFFFF"/>
                </a:solidFill>
                <a:latin typeface="Aptos Display" panose="020B0004020202020204" pitchFamily="34" charset="0"/>
              </a:rPr>
              <a:t>37 of 40 historical revisions widened to full validation.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EB421F-4B19-A12D-7755-7EC9ACD95B60}"/>
              </a:ext>
            </a:extLst>
          </p:cNvPr>
          <p:cNvSpPr txBox="1"/>
          <p:nvPr/>
        </p:nvSpPr>
        <p:spPr>
          <a:xfrm>
            <a:off x="990600" y="4991100"/>
            <a:ext cx="1026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D95F31"/>
                </a:solidFill>
                <a:latin typeface="Aptos" panose="020B0004020202020204" pitchFamily="34" charset="0"/>
              </a:rPr>
              <a:t>The only admissible narrowed comparison was 7.7% slower. Later cohorts produced no admissible timing.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3766ED-FC88-0B65-304F-0676290E8456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Claims F-01 and F-02: MICROSOFT_RUST_CLAIM_LEDGER.md. No savings, CI replacement, or support claim.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05328C-B008-7F17-EDC1-39886CCE1CF2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5925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39985-AA18-D3A8-CC33-5D63E10E7EF4}"/>
              </a:ext>
            </a:extLst>
          </p:cNvPr>
          <p:cNvSpPr txBox="1"/>
          <p:nvPr/>
        </p:nvSpPr>
        <p:spPr>
          <a:xfrm>
            <a:off x="558800" y="304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CE4A2B"/>
                </a:solidFill>
                <a:latin typeface="Aptos" panose="020B0004020202020204" pitchFamily="34" charset="0"/>
              </a:rPr>
              <a:t>GATED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C676D-2CF4-15D3-A119-CA4D74341B78}"/>
              </a:ext>
            </a:extLst>
          </p:cNvPr>
          <p:cNvSpPr txBox="1"/>
          <p:nvPr/>
        </p:nvSpPr>
        <p:spPr>
          <a:xfrm>
            <a:off x="558800" y="635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F2329"/>
                </a:solidFill>
                <a:latin typeface="Aptos Display" panose="020B0004020202020204" pitchFamily="34" charset="0"/>
              </a:rPr>
              <a:t>Evidence gates control the roadmap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088B0D-A47F-2CE3-41AC-915E92185037}"/>
              </a:ext>
            </a:extLst>
          </p:cNvPr>
          <p:cNvSpPr/>
          <p:nvPr/>
        </p:nvSpPr>
        <p:spPr>
          <a:xfrm>
            <a:off x="558800" y="1803400"/>
            <a:ext cx="2514600" cy="3556000"/>
          </a:xfrm>
          <a:prstGeom prst="roundRect">
            <a:avLst/>
          </a:prstGeom>
          <a:solidFill>
            <a:srgbClr val="10212D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4359A-0702-75D0-BDFD-2D12EFA047CE}"/>
              </a:ext>
            </a:extLst>
          </p:cNvPr>
          <p:cNvSpPr txBox="1"/>
          <p:nvPr/>
        </p:nvSpPr>
        <p:spPr>
          <a:xfrm>
            <a:off x="762000" y="20574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D95F31"/>
                </a:solidFill>
                <a:latin typeface="Aptos" panose="020B0004020202020204" pitchFamily="34" charset="0"/>
              </a:rPr>
              <a:t>PASSED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C527E-2800-D741-C3FA-91C65D5B8267}"/>
              </a:ext>
            </a:extLst>
          </p:cNvPr>
          <p:cNvSpPr txBox="1"/>
          <p:nvPr/>
        </p:nvSpPr>
        <p:spPr>
          <a:xfrm>
            <a:off x="762000" y="25654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Foundation proof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310CD-8341-8BD2-D2D9-31751E532FF7}"/>
              </a:ext>
            </a:extLst>
          </p:cNvPr>
          <p:cNvSpPr txBox="1"/>
          <p:nvPr/>
        </p:nvSpPr>
        <p:spPr>
          <a:xfrm>
            <a:off x="762000" y="3505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E5E1D8"/>
                </a:solidFill>
                <a:latin typeface="Aptos" panose="020B0004020202020204" pitchFamily="34" charset="0"/>
              </a:rPr>
              <a:t>Owner execution + receipts
Windows/Linux onboarding
Complete removal proof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1A012A-2512-BAC6-F260-6E53C4CC7741}"/>
              </a:ext>
            </a:extLst>
          </p:cNvPr>
          <p:cNvSpPr/>
          <p:nvPr/>
        </p:nvSpPr>
        <p:spPr>
          <a:xfrm>
            <a:off x="3378200" y="1803400"/>
            <a:ext cx="2514600" cy="35560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19CB2-0BD7-EA85-8BE4-45410A91FCE7}"/>
              </a:ext>
            </a:extLst>
          </p:cNvPr>
          <p:cNvSpPr txBox="1"/>
          <p:nvPr/>
        </p:nvSpPr>
        <p:spPr>
          <a:xfrm>
            <a:off x="3581400" y="20574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CE4A2B"/>
                </a:solidFill>
                <a:latin typeface="Aptos" panose="020B0004020202020204" pitchFamily="34" charset="0"/>
              </a:rPr>
              <a:t>PROPOSED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B723A-EFA0-A4EA-598C-E3A04E56E0C6}"/>
              </a:ext>
            </a:extLst>
          </p:cNvPr>
          <p:cNvSpPr txBox="1"/>
          <p:nvPr/>
        </p:nvSpPr>
        <p:spPr>
          <a:xfrm>
            <a:off x="3581400" y="25654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F2329"/>
                </a:solidFill>
                <a:latin typeface="Aptos Display" panose="020B0004020202020204" pitchFamily="34" charset="0"/>
              </a:rPr>
              <a:t>One final value cohort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6F00D-026F-4756-4437-D59454910132}"/>
              </a:ext>
            </a:extLst>
          </p:cNvPr>
          <p:cNvSpPr txBox="1"/>
          <p:nvPr/>
        </p:nvSpPr>
        <p:spPr>
          <a:xfrm>
            <a:off x="3581400" y="3505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646C77"/>
                </a:solidFill>
                <a:latin typeface="Aptos" panose="020B0004020202020204" pitchFamily="34" charset="0"/>
              </a:rPr>
              <a:t>Frozen owner preflight
One attempt maximum
Stop if invalid, divergent,
or nonpositive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1430C0-FB9B-74B2-EAD1-5A4AA3F4BAE2}"/>
              </a:ext>
            </a:extLst>
          </p:cNvPr>
          <p:cNvSpPr/>
          <p:nvPr/>
        </p:nvSpPr>
        <p:spPr>
          <a:xfrm>
            <a:off x="6197600" y="1803400"/>
            <a:ext cx="2514600" cy="35560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C9D955-A66C-D25A-5E69-6F75107AF574}"/>
              </a:ext>
            </a:extLst>
          </p:cNvPr>
          <p:cNvSpPr txBox="1"/>
          <p:nvPr/>
        </p:nvSpPr>
        <p:spPr>
          <a:xfrm>
            <a:off x="6400800" y="20574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CE4A2B"/>
                </a:solidFill>
                <a:latin typeface="Aptos" panose="020B0004020202020204" pitchFamily="34" charset="0"/>
              </a:rPr>
              <a:t>BLOCKED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53CEAB-CB5B-E9EC-254D-58D09E50EF97}"/>
              </a:ext>
            </a:extLst>
          </p:cNvPr>
          <p:cNvSpPr txBox="1"/>
          <p:nvPr/>
        </p:nvSpPr>
        <p:spPr>
          <a:xfrm>
            <a:off x="6400800" y="25654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F2329"/>
                </a:solidFill>
                <a:latin typeface="Aptos Display" panose="020B0004020202020204" pitchFamily="34" charset="0"/>
              </a:rPr>
              <a:t>Advisory CI shadow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9E35E4-B32F-1F7D-2F54-32A792F057B2}"/>
              </a:ext>
            </a:extLst>
          </p:cNvPr>
          <p:cNvSpPr txBox="1"/>
          <p:nvPr/>
        </p:nvSpPr>
        <p:spPr>
          <a:xfrm>
            <a:off x="6400800" y="3505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646C77"/>
                </a:solidFill>
                <a:latin typeface="Aptos" panose="020B0004020202020204" pitchFamily="34" charset="0"/>
              </a:rPr>
              <a:t>Owner-approved scope
Required checks retained
Divergence measured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B46B02-AC4C-95E2-DFAE-363D2DD6F4F5}"/>
              </a:ext>
            </a:extLst>
          </p:cNvPr>
          <p:cNvSpPr/>
          <p:nvPr/>
        </p:nvSpPr>
        <p:spPr>
          <a:xfrm>
            <a:off x="9017000" y="1803400"/>
            <a:ext cx="2514600" cy="3556000"/>
          </a:xfrm>
          <a:prstGeom prst="roundRect">
            <a:avLst/>
          </a:prstGeom>
          <a:solidFill>
            <a:srgbClr val="FCFDFF"/>
          </a:solidFill>
          <a:ln w="19050" cap="flat" cmpd="sng" algn="ctr">
            <a:solidFill>
              <a:srgbClr val="C5CE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C2BC8B-0278-1DA5-1167-FA87F2088C07}"/>
              </a:ext>
            </a:extLst>
          </p:cNvPr>
          <p:cNvSpPr txBox="1"/>
          <p:nvPr/>
        </p:nvSpPr>
        <p:spPr>
          <a:xfrm>
            <a:off x="9220200" y="20574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CE4A2B"/>
                </a:solidFill>
                <a:latin typeface="Aptos" panose="020B0004020202020204" pitchFamily="34" charset="0"/>
              </a:rPr>
              <a:t>BLOCKED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CB30EA-85EE-DC45-F7E9-8D3DE1368C8B}"/>
              </a:ext>
            </a:extLst>
          </p:cNvPr>
          <p:cNvSpPr txBox="1"/>
          <p:nvPr/>
        </p:nvSpPr>
        <p:spPr>
          <a:xfrm>
            <a:off x="9220200" y="25654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F2329"/>
                </a:solidFill>
                <a:latin typeface="Aptos Display" panose="020B0004020202020204" pitchFamily="34" charset="0"/>
              </a:rPr>
              <a:t>Support + interop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BAF489-E5E2-8500-4FD7-6BA91B1C6943}"/>
              </a:ext>
            </a:extLst>
          </p:cNvPr>
          <p:cNvSpPr txBox="1"/>
          <p:nvPr/>
        </p:nvSpPr>
        <p:spPr>
          <a:xfrm>
            <a:off x="9220200" y="3505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646C77"/>
                </a:solidFill>
                <a:latin typeface="Aptos" panose="020B0004020202020204" pitchFamily="34" charset="0"/>
              </a:rPr>
              <a:t>Platforms + ABI
Ownership + allocation
Panic/error + threading
Debugging + deployment
Rollback + audit + support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0E7B51-BACC-C5D0-2649-750F718890F9}"/>
              </a:ext>
            </a:extLst>
          </p:cNvPr>
          <p:cNvCxnSpPr/>
          <p:nvPr/>
        </p:nvCxnSpPr>
        <p:spPr>
          <a:xfrm>
            <a:off x="1117600" y="5765800"/>
            <a:ext cx="9956800" cy="0"/>
          </a:xfrm>
          <a:prstGeom prst="line">
            <a:avLst/>
          </a:prstGeom>
          <a:ln w="50800">
            <a:solidFill>
              <a:srgbClr val="CE4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B6520C0-E27A-CD15-9BD4-B161C9DB0D04}"/>
              </a:ext>
            </a:extLst>
          </p:cNvPr>
          <p:cNvSpPr/>
          <p:nvPr/>
        </p:nvSpPr>
        <p:spPr>
          <a:xfrm>
            <a:off x="1028700" y="5676900"/>
            <a:ext cx="177800" cy="1778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54A8D2-B182-0BFC-BE40-F47667F3F5B7}"/>
              </a:ext>
            </a:extLst>
          </p:cNvPr>
          <p:cNvSpPr/>
          <p:nvPr/>
        </p:nvSpPr>
        <p:spPr>
          <a:xfrm>
            <a:off x="3848100" y="5676900"/>
            <a:ext cx="177800" cy="1778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37CFC8-A98E-D44C-13BA-93E9144B1F74}"/>
              </a:ext>
            </a:extLst>
          </p:cNvPr>
          <p:cNvSpPr/>
          <p:nvPr/>
        </p:nvSpPr>
        <p:spPr>
          <a:xfrm>
            <a:off x="6667500" y="5676900"/>
            <a:ext cx="177800" cy="1778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51A3554-5CDE-A337-35FD-BB514B47EE6B}"/>
              </a:ext>
            </a:extLst>
          </p:cNvPr>
          <p:cNvSpPr/>
          <p:nvPr/>
        </p:nvSpPr>
        <p:spPr>
          <a:xfrm>
            <a:off x="9486900" y="5676900"/>
            <a:ext cx="177800" cy="1778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2E32D6B-ECC8-D27F-9D6C-351988BA6BFC}"/>
              </a:ext>
            </a:extLst>
          </p:cNvPr>
          <p:cNvSpPr/>
          <p:nvPr/>
        </p:nvSpPr>
        <p:spPr>
          <a:xfrm>
            <a:off x="10985500" y="5676900"/>
            <a:ext cx="177800" cy="1778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5A82DA-4F0E-BCFC-C365-2140C9107600}"/>
              </a:ext>
            </a:extLst>
          </p:cNvPr>
          <p:cNvSpPr txBox="1"/>
          <p:nvPr/>
        </p:nvSpPr>
        <p:spPr>
          <a:xfrm>
            <a:off x="558800" y="62738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646C77"/>
                </a:solidFill>
                <a:latin typeface="Aptos" panose="020B0004020202020204" pitchFamily="34" charset="0"/>
              </a:rPr>
              <a:t>A later gate opens only after the preceding evidence passes owner review.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C4AF8F-595F-D21E-B4E6-B0A7110740E7}"/>
              </a:ext>
            </a:extLst>
          </p:cNvPr>
          <p:cNvSpPr txBox="1"/>
          <p:nvPr/>
        </p:nvSpPr>
        <p:spPr>
          <a:xfrm>
            <a:off x="11252200" y="6248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b="1">
                <a:solidFill>
                  <a:srgbClr val="646C77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38398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8751F-C99D-E3FB-06D2-CC53294FB720}"/>
              </a:ext>
            </a:extLst>
          </p:cNvPr>
          <p:cNvSpPr txBox="1"/>
          <p:nvPr/>
        </p:nvSpPr>
        <p:spPr>
          <a:xfrm>
            <a:off x="609600" y="406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D95F31"/>
                </a:solidFill>
                <a:latin typeface="Aptos" panose="020B0004020202020204" pitchFamily="34" charset="0"/>
              </a:rPr>
              <a:t>THE LEADERSHIP 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C1860-D5B5-C5CF-874B-30E924702430}"/>
              </a:ext>
            </a:extLst>
          </p:cNvPr>
          <p:cNvSpPr txBox="1"/>
          <p:nvPr/>
        </p:nvSpPr>
        <p:spPr>
          <a:xfrm>
            <a:off x="609600" y="8382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100" b="1">
                <a:solidFill>
                  <a:srgbClr val="FFFFFF"/>
                </a:solidFill>
                <a:latin typeface="Aptos Display" panose="020B0004020202020204" pitchFamily="34" charset="0"/>
              </a:rPr>
              <a:t>Fund the evidence needed for a platform decision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FAF243-1B74-D102-5D3C-F939E6FC8A3A}"/>
              </a:ext>
            </a:extLst>
          </p:cNvPr>
          <p:cNvSpPr/>
          <p:nvPr/>
        </p:nvSpPr>
        <p:spPr>
          <a:xfrm>
            <a:off x="1219200" y="2019300"/>
            <a:ext cx="9652000" cy="5334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8C53E5-9773-1A49-C5F8-AE8261D630E1}"/>
              </a:ext>
            </a:extLst>
          </p:cNvPr>
          <p:cNvSpPr/>
          <p:nvPr/>
        </p:nvSpPr>
        <p:spPr>
          <a:xfrm>
            <a:off x="685800" y="2095500"/>
            <a:ext cx="406400" cy="4064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33FC7-E244-FF93-1DD6-C73531D219C4}"/>
              </a:ext>
            </a:extLst>
          </p:cNvPr>
          <p:cNvSpPr txBox="1"/>
          <p:nvPr/>
        </p:nvSpPr>
        <p:spPr>
          <a:xfrm>
            <a:off x="825500" y="2197100"/>
            <a:ext cx="15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10212D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F2588-8B59-8FAF-31C4-4C695F2ADBF4}"/>
              </a:ext>
            </a:extLst>
          </p:cNvPr>
          <p:cNvSpPr txBox="1"/>
          <p:nvPr/>
        </p:nvSpPr>
        <p:spPr>
          <a:xfrm>
            <a:off x="1473200" y="2146300"/>
            <a:ext cx="906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Name one accountable sponsor and one application owner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DCC322-F3DB-49E7-37DE-0D5AB3448376}"/>
              </a:ext>
            </a:extLst>
          </p:cNvPr>
          <p:cNvSpPr/>
          <p:nvPr/>
        </p:nvSpPr>
        <p:spPr>
          <a:xfrm>
            <a:off x="1219200" y="2755900"/>
            <a:ext cx="9652000" cy="5334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635E84-0F0A-4097-8738-835A4DBDDA17}"/>
              </a:ext>
            </a:extLst>
          </p:cNvPr>
          <p:cNvSpPr/>
          <p:nvPr/>
        </p:nvSpPr>
        <p:spPr>
          <a:xfrm>
            <a:off x="685800" y="2832100"/>
            <a:ext cx="406400" cy="4064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A65E01-C4F1-669E-C525-5FF013276CB1}"/>
              </a:ext>
            </a:extLst>
          </p:cNvPr>
          <p:cNvSpPr txBox="1"/>
          <p:nvPr/>
        </p:nvSpPr>
        <p:spPr>
          <a:xfrm>
            <a:off x="825500" y="2933700"/>
            <a:ext cx="15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10212D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5DFB28-5716-301C-E473-8C34E45FACB8}"/>
              </a:ext>
            </a:extLst>
          </p:cNvPr>
          <p:cNvSpPr txBox="1"/>
          <p:nvPr/>
        </p:nvSpPr>
        <p:spPr>
          <a:xfrm>
            <a:off x="1473200" y="2882900"/>
            <a:ext cx="906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Authorize one preflight-qualified value cohort, one attempt maximum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BB714F-395F-9D8F-552E-DEDE63BC3C29}"/>
              </a:ext>
            </a:extLst>
          </p:cNvPr>
          <p:cNvSpPr/>
          <p:nvPr/>
        </p:nvSpPr>
        <p:spPr>
          <a:xfrm>
            <a:off x="1219200" y="3492500"/>
            <a:ext cx="9652000" cy="5334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7AFED7E-89C7-2F00-6981-36E6C9A82545}"/>
              </a:ext>
            </a:extLst>
          </p:cNvPr>
          <p:cNvSpPr/>
          <p:nvPr/>
        </p:nvSpPr>
        <p:spPr>
          <a:xfrm>
            <a:off x="685800" y="3568700"/>
            <a:ext cx="406400" cy="4064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C56FA-9698-A792-3944-230963F7BC39}"/>
              </a:ext>
            </a:extLst>
          </p:cNvPr>
          <p:cNvSpPr txBox="1"/>
          <p:nvPr/>
        </p:nvSpPr>
        <p:spPr>
          <a:xfrm>
            <a:off x="825500" y="3670300"/>
            <a:ext cx="15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10212D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F4FCF4-FB56-75CA-C528-EF3ED82A86F8}"/>
              </a:ext>
            </a:extLst>
          </p:cNvPr>
          <p:cNvSpPr txBox="1"/>
          <p:nvPr/>
        </p:nvSpPr>
        <p:spPr>
          <a:xfrm>
            <a:off x="1473200" y="3619500"/>
            <a:ext cx="906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Authorize an advisory CI shadow only after Gate 2 passes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1DC86D-DFDA-517E-4386-9E6F2FD665D3}"/>
              </a:ext>
            </a:extLst>
          </p:cNvPr>
          <p:cNvSpPr/>
          <p:nvPr/>
        </p:nvSpPr>
        <p:spPr>
          <a:xfrm>
            <a:off x="1219200" y="4229100"/>
            <a:ext cx="9652000" cy="5334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FDAD1AE-C151-A11D-CCCB-169C30F457BF}"/>
              </a:ext>
            </a:extLst>
          </p:cNvPr>
          <p:cNvSpPr/>
          <p:nvPr/>
        </p:nvSpPr>
        <p:spPr>
          <a:xfrm>
            <a:off x="685800" y="4305300"/>
            <a:ext cx="406400" cy="406400"/>
          </a:xfrm>
          <a:prstGeom prst="ellipse">
            <a:avLst/>
          </a:prstGeom>
          <a:solidFill>
            <a:srgbClr val="D95F31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0D02DE-F667-C09B-67CC-02B6ED898E60}"/>
              </a:ext>
            </a:extLst>
          </p:cNvPr>
          <p:cNvSpPr txBox="1"/>
          <p:nvPr/>
        </p:nvSpPr>
        <p:spPr>
          <a:xfrm>
            <a:off x="825500" y="4406900"/>
            <a:ext cx="15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10212D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17AFF4-2A6B-F9DA-E1C0-4CA20AFFE20B}"/>
              </a:ext>
            </a:extLst>
          </p:cNvPr>
          <p:cNvSpPr txBox="1"/>
          <p:nvPr/>
        </p:nvSpPr>
        <p:spPr>
          <a:xfrm>
            <a:off x="1473200" y="4356100"/>
            <a:ext cx="906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Complete the Microsoft Rust estate and economic baseline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7D30B8-C3DE-06DD-903E-F190354988D7}"/>
              </a:ext>
            </a:extLst>
          </p:cNvPr>
          <p:cNvSpPr/>
          <p:nvPr/>
        </p:nvSpPr>
        <p:spPr>
          <a:xfrm>
            <a:off x="1219200" y="4965700"/>
            <a:ext cx="9652000" cy="5334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78C275-8B67-E7C1-0B86-F4D671463031}"/>
              </a:ext>
            </a:extLst>
          </p:cNvPr>
          <p:cNvSpPr/>
          <p:nvPr/>
        </p:nvSpPr>
        <p:spPr>
          <a:xfrm>
            <a:off x="685800" y="5041900"/>
            <a:ext cx="406400" cy="406400"/>
          </a:xfrm>
          <a:prstGeom prst="ellipse">
            <a:avLst/>
          </a:prstGeom>
          <a:solidFill>
            <a:srgbClr val="52B8C8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6BD477-B413-DCC6-0978-CDCB1F80316D}"/>
              </a:ext>
            </a:extLst>
          </p:cNvPr>
          <p:cNvSpPr txBox="1"/>
          <p:nvPr/>
        </p:nvSpPr>
        <p:spPr>
          <a:xfrm>
            <a:off x="825500" y="5143500"/>
            <a:ext cx="15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10212D"/>
                </a:solidFill>
                <a:latin typeface="Aptos Display" panose="020B0004020202020204" pitchFamily="34" charset="0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7DC819-BEB9-7211-31A6-535869D5E9F0}"/>
              </a:ext>
            </a:extLst>
          </p:cNvPr>
          <p:cNvSpPr txBox="1"/>
          <p:nvPr/>
        </p:nvSpPr>
        <p:spPr>
          <a:xfrm>
            <a:off x="1473200" y="5092700"/>
            <a:ext cx="906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Define support, interop, rollback, audit, and an explicit exit path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0B176F-7D77-52D0-5F17-F82F900C8316}"/>
              </a:ext>
            </a:extLst>
          </p:cNvPr>
          <p:cNvSpPr/>
          <p:nvPr/>
        </p:nvSpPr>
        <p:spPr>
          <a:xfrm>
            <a:off x="609600" y="5791200"/>
            <a:ext cx="10972800" cy="508000"/>
          </a:xfrm>
          <a:prstGeom prst="roundRect">
            <a:avLst/>
          </a:prstGeom>
          <a:solidFill>
            <a:srgbClr val="2D3644"/>
          </a:solidFill>
          <a:ln w="19050" cap="flat" cmpd="sng" algn="ctr">
            <a:solidFill>
              <a:srgbClr val="2D364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CAA8F0-B45E-4AE4-BD48-8A7B7F71183E}"/>
              </a:ext>
            </a:extLst>
          </p:cNvPr>
          <p:cNvSpPr txBox="1"/>
          <p:nvPr/>
        </p:nvSpPr>
        <p:spPr>
          <a:xfrm>
            <a:off x="889000" y="59309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52B8C8"/>
                </a:solidFill>
                <a:latin typeface="Aptos" panose="020B0004020202020204" pitchFamily="34" charset="0"/>
              </a:rPr>
              <a:t>Stop after an invalid, divergent, or nonpositive cohort. Platform funding remains gated.</a:t>
            </a:r>
          </a:p>
        </p:txBody>
      </p:sp>
    </p:spTree>
    <p:extLst>
      <p:ext uri="{BB962C8B-B14F-4D97-AF65-F5344CB8AC3E}">
        <p14:creationId xmlns:p14="http://schemas.microsoft.com/office/powerpoint/2010/main" val="2491577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Microsoft Office PowerPoint</Application>
  <PresentationFormat>Custom</PresentationFormat>
  <Paragraphs>178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 Della-Libera</dc:creator>
  <cp:lastModifiedBy>Gio Della-Libera</cp:lastModifiedBy>
  <cp:revision>1</cp:revision>
  <dcterms:created xsi:type="dcterms:W3CDTF">2026-09-22T00:17:32Z</dcterms:created>
  <dcterms:modified xsi:type="dcterms:W3CDTF">2026-09-22T00:17:32Z</dcterms:modified>
</cp:coreProperties>
</file>